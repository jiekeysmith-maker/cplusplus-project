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58201b69dc4ba0" /><Relationship Type="http://schemas.openxmlformats.org/officeDocument/2006/relationships/extended-properties" Target="/docProps/app.xml" Id="Rb79925fd16c4436e" /><Relationship Type="http://schemas.openxmlformats.org/officeDocument/2006/relationships/officeDocument" Target="/ppt/presentation.xml" Id="Rcb36a4b3824044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255363dd194611"/>
  </p:sldMasterIdLst>
  <p:notesMasterIdLst>
    <p:notesMasterId xmlns:r="http://schemas.openxmlformats.org/officeDocument/2006/relationships" r:id="R9c6e28fc0db2464b"/>
  </p:notesMasterIdLst>
  <p:sldIdLst>
    <p:sldId xmlns:r="http://schemas.openxmlformats.org/officeDocument/2006/relationships" id="256" r:id="Re172b40840e34e6e"/>
    <p:sldId xmlns:r="http://schemas.openxmlformats.org/officeDocument/2006/relationships" id="257" r:id="R00d39379921a4bd9"/>
    <p:sldId xmlns:r="http://schemas.openxmlformats.org/officeDocument/2006/relationships" id="258" r:id="R78fe3364aa7242c7"/>
    <p:sldId xmlns:r="http://schemas.openxmlformats.org/officeDocument/2006/relationships" id="259" r:id="R0ef53cddde264d55"/>
    <p:sldId xmlns:r="http://schemas.openxmlformats.org/officeDocument/2006/relationships" id="260" r:id="R4bf1f115d37442d3"/>
    <p:sldId xmlns:r="http://schemas.openxmlformats.org/officeDocument/2006/relationships" id="261" r:id="Rdcf05e35287f4304"/>
    <p:sldId xmlns:r="http://schemas.openxmlformats.org/officeDocument/2006/relationships" id="262" r:id="R80da979f1eaf4753"/>
    <p:sldId xmlns:r="http://schemas.openxmlformats.org/officeDocument/2006/relationships" id="263" r:id="R34e60888a35546e4"/>
    <p:sldId xmlns:r="http://schemas.openxmlformats.org/officeDocument/2006/relationships" id="264" r:id="R1de58f796e4e4dd9"/>
    <p:sldId xmlns:r="http://schemas.openxmlformats.org/officeDocument/2006/relationships" id="265" r:id="R225a9979173d4185"/>
    <p:sldId xmlns:r="http://schemas.openxmlformats.org/officeDocument/2006/relationships" id="266" r:id="R9cc2ed17a3f7400e"/>
    <p:sldId xmlns:r="http://schemas.openxmlformats.org/officeDocument/2006/relationships" id="267" r:id="R6b5851e1bf934a2c"/>
    <p:sldId xmlns:r="http://schemas.openxmlformats.org/officeDocument/2006/relationships" id="268" r:id="R5e7da9ff5b0844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0cc1390239483e" /><Relationship Type="http://schemas.openxmlformats.org/officeDocument/2006/relationships/slideMaster" Target="/ppt/slideMasters/slideMaster1.xml" Id="Rac255363dd194611" /><Relationship Type="http://schemas.openxmlformats.org/officeDocument/2006/relationships/notesMaster" Target="/ppt/notesMasters/notesMaster1.xml" Id="R9c6e28fc0db2464b" /><Relationship Type="http://schemas.openxmlformats.org/officeDocument/2006/relationships/presProps" Target="/ppt/presProps.xml" Id="R7b66fb2f10fd4c79" /><Relationship Type="http://schemas.openxmlformats.org/officeDocument/2006/relationships/tableStyles" Target="/ppt/tableStyles.xml" Id="Re128a144bc9346fd" /><Relationship Type="http://schemas.openxmlformats.org/officeDocument/2006/relationships/slide" Target="/ppt/slides/slide1.xml" Id="Re172b40840e34e6e" /><Relationship Type="http://schemas.openxmlformats.org/officeDocument/2006/relationships/slide" Target="/ppt/slides/slide2.xml" Id="R00d39379921a4bd9" /><Relationship Type="http://schemas.openxmlformats.org/officeDocument/2006/relationships/slide" Target="/ppt/slides/slide3.xml" Id="R78fe3364aa7242c7" /><Relationship Type="http://schemas.openxmlformats.org/officeDocument/2006/relationships/slide" Target="/ppt/slides/slide4.xml" Id="R0ef53cddde264d55" /><Relationship Type="http://schemas.openxmlformats.org/officeDocument/2006/relationships/slide" Target="/ppt/slides/slide5.xml" Id="R4bf1f115d37442d3" /><Relationship Type="http://schemas.openxmlformats.org/officeDocument/2006/relationships/slide" Target="/ppt/slides/slide6.xml" Id="Rdcf05e35287f4304" /><Relationship Type="http://schemas.openxmlformats.org/officeDocument/2006/relationships/slide" Target="/ppt/slides/slide7.xml" Id="R80da979f1eaf4753" /><Relationship Type="http://schemas.openxmlformats.org/officeDocument/2006/relationships/slide" Target="/ppt/slides/slide8.xml" Id="R34e60888a35546e4" /><Relationship Type="http://schemas.openxmlformats.org/officeDocument/2006/relationships/slide" Target="/ppt/slides/slide9.xml" Id="R1de58f796e4e4dd9" /><Relationship Type="http://schemas.openxmlformats.org/officeDocument/2006/relationships/slide" Target="/ppt/slides/slide10.xml" Id="R225a9979173d4185" /><Relationship Type="http://schemas.openxmlformats.org/officeDocument/2006/relationships/slide" Target="/ppt/slides/slide11.xml" Id="R9cc2ed17a3f7400e" /><Relationship Type="http://schemas.openxmlformats.org/officeDocument/2006/relationships/slide" Target="/ppt/slides/slide12.xml" Id="R6b5851e1bf934a2c" /><Relationship Type="http://schemas.openxmlformats.org/officeDocument/2006/relationships/slide" Target="/ppt/slides/slide13.xml" Id="R5e7da9ff5b0844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0c8a80cfaa49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33a72d4abbc4d2c" /><Relationship Type="http://schemas.openxmlformats.org/officeDocument/2006/relationships/notesMaster" Target="/ppt/notesMasters/notesMaster1.xml" Id="R24487512b7c645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60ee53b7dc468c" /><Relationship Type="http://schemas.openxmlformats.org/officeDocument/2006/relationships/notesMaster" Target="/ppt/notesMasters/notesMaster1.xml" Id="Raba86029f5aa43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8626c52182456f" /><Relationship Type="http://schemas.openxmlformats.org/officeDocument/2006/relationships/notesMaster" Target="/ppt/notesMasters/notesMaster1.xml" Id="Re07a6599dce442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0601dddbe64e80" /><Relationship Type="http://schemas.openxmlformats.org/officeDocument/2006/relationships/notesMaster" Target="/ppt/notesMasters/notesMaster1.xml" Id="R83c5479c4b6c4b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81383ffbb44ce9" /><Relationship Type="http://schemas.openxmlformats.org/officeDocument/2006/relationships/notesMaster" Target="/ppt/notesMasters/notesMaster1.xml" Id="Rfa777adc2da5427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f6a206974dc4d87" /><Relationship Type="http://schemas.openxmlformats.org/officeDocument/2006/relationships/notesMaster" Target="/ppt/notesMasters/notesMaster1.xml" Id="R2337e1f4963444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4a579f6c7341cb" /><Relationship Type="http://schemas.openxmlformats.org/officeDocument/2006/relationships/notesMaster" Target="/ppt/notesMasters/notesMaster1.xml" Id="Ra9a9f9ac85ad4e1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7d4fc62735a4221" /><Relationship Type="http://schemas.openxmlformats.org/officeDocument/2006/relationships/notesMaster" Target="/ppt/notesMasters/notesMaster1.xml" Id="R26641f155f2545f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92e8ca1dbf84f0a" /><Relationship Type="http://schemas.openxmlformats.org/officeDocument/2006/relationships/notesMaster" Target="/ppt/notesMasters/notesMaster1.xml" Id="R647cbe1e13844a6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9e07f50d2747b9" /><Relationship Type="http://schemas.openxmlformats.org/officeDocument/2006/relationships/notesMaster" Target="/ppt/notesMasters/notesMaster1.xml" Id="R27c535297cb0402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03f92a8a754ed0" /><Relationship Type="http://schemas.openxmlformats.org/officeDocument/2006/relationships/notesMaster" Target="/ppt/notesMasters/notesMaster1.xml" Id="R182f5bc4509d4c1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033d3ec4e9b4a46" /><Relationship Type="http://schemas.openxmlformats.org/officeDocument/2006/relationships/notesMaster" Target="/ppt/notesMasters/notesMaster1.xml" Id="R0631e96629c748f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a3f804531443da" /><Relationship Type="http://schemas.openxmlformats.org/officeDocument/2006/relationships/notesMaster" Target="/ppt/notesMasters/notesMaster1.xml" Id="R4c162d77b9cd45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各位老师好，我是周生斌。</a:t>
            </a:r>
          </a:p>
          <a:p xmlns:a="http://schemas.openxmlformats.org/drawingml/2006/main">
            <a:r>
              <a:t>本次汇报的项目是简易科研文献管理系统设计与实现。</a:t>
            </a:r>
          </a:p>
          <a:p xmlns:a="http://schemas.openxmlformats.org/drawingml/2006/main">
            <a:r>
              <a:t>汇报将从项目设计、个人负责部分、实现思路和项目总结四个方面展开。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目录分为四部分，与优秀答辩模板的叙事结构保持一致。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进入第1部分：项目分析与模块设计。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项目解决的是科研文献分散管理的问题。</a:t>
            </a:r>
          </a:p>
          <a:p xmlns:a="http://schemas.openxmlformats.org/drawingml/2006/main">
            <a:r>
              <a:t>目标不仅是保存文献条目，还要管理作者、来源、目录和附件之间的关系。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系统采用三层结构：界面展示、业务管理、核心数据与持久化。</a:t>
            </a:r>
          </a:p>
          <a:p xmlns:a="http://schemas.openxmlformats.org/drawingml/2006/main">
            <a:r>
              <a:t>LibraryManager 是连接界面和实体对象的核心入口。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进入第2部分：个人负责部分分析。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本人的主要分工集中在Author、Paper、Attachment、Catalog 及相关业务。</a:t>
            </a:r>
          </a:p>
          <a:p xmlns:a="http://schemas.openxmlformats.org/drawingml/2006/main">
            <a:r>
              <a:t>除类设计外，还参与 LibraryManager 对应功能、代码整合和调试。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本部分以 Serializable 接口统一序列化行为。</a:t>
            </a:r>
          </a:p>
          <a:p xmlns:a="http://schemas.openxmlformats.org/drawingml/2006/main">
            <a:r>
              <a:t>Paper 通过编号关联 Author、Attachment 和 Source，Catalog 通过父子编号形成目录树。</a:t>
            </a:r>
          </a:p>
          <a:p xmlns:a="http://schemas.openxmlformats.org/drawingml/2006/main">
            <a:r>
              <a:t>LibraryManager 负责对象生命周期和关联一致性。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展示三个代表性功能：文献新增、作者关联、目录管理。</a:t>
            </a:r>
          </a:p>
          <a:p xmlns:a="http://schemas.openxmlformats.org/drawingml/2006/main">
            <a:r>
              <a:t>界面层通过 LibraryManager 调用核心对象，不直接维护业务数据。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进入第3部分：具体实现思路。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重点说明三个最能体现本人工作量和面向对象思想的算法。</a:t>
            </a:r>
          </a:p>
          <a:p xmlns:a="http://schemas.openxmlformats.org/drawingml/2006/main">
            <a:r>
              <a:t>这些逻辑均集中在 LibraryManager 中，界面层只负责触发操作。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从核心功能、关联关系、持久化和文件操作四个方面进行了测试。</a:t>
            </a:r>
          </a:p>
          <a:p xmlns:a="http://schemas.openxmlformats.org/drawingml/2006/main">
            <a:r>
              <a:t>系统基本达到预期目标，同时仍有性能、异常处理和数据安全方面的改进空间。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我的汇报完毕，感谢各位老师，请老师批评指正。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f9ed5848a49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25ee6a1f3d490b" /><Relationship Type="http://schemas.openxmlformats.org/officeDocument/2006/relationships/slideLayout" Target="/ppt/slideLayouts/slideLayout1.xml" Id="R0bd9e3ad3f4b4f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d9e3ad3f4b4f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a1ff53aa65422b" /><Relationship Type="http://schemas.openxmlformats.org/officeDocument/2006/relationships/image" Target="/ppt/media/image.png" Id="Rfe20a34bf27448f8" /><Relationship Type="http://schemas.openxmlformats.org/officeDocument/2006/relationships/notesSlide" Target="/ppt/notesSlides/notesSlide1.xml" Id="Ra06f3173a5104a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a403815e9432a" /><Relationship Type="http://schemas.openxmlformats.org/officeDocument/2006/relationships/notesSlide" Target="/ppt/notesSlides/notesSlide2.xml" Id="R91fc2e901ce142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d001fa43e24286" /><Relationship Type="http://schemas.openxmlformats.org/officeDocument/2006/relationships/notesSlide" Target="/ppt/notesSlides/notesSlide3.xml" Id="Rdb81339270194d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f76b5b7958487a" /><Relationship Type="http://schemas.openxmlformats.org/officeDocument/2006/relationships/image" Target="/ppt/media/image2.png" Id="Re02770c7ec2942db" /><Relationship Type="http://schemas.openxmlformats.org/officeDocument/2006/relationships/image" Target="/ppt/media/image3.png" Id="R7e2f4436bc29425e" /><Relationship Type="http://schemas.openxmlformats.org/officeDocument/2006/relationships/notesSlide" Target="/ppt/notesSlides/notesSlide4.xml" Id="Re0f28bda413f495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3a4889f6d54040" /><Relationship Type="http://schemas.openxmlformats.org/officeDocument/2006/relationships/image" Target="/ppt/media/image4.png" Id="R8f926a17368c47f0" /><Relationship Type="http://schemas.openxmlformats.org/officeDocument/2006/relationships/notesSlide" Target="/ppt/notesSlides/notesSlide5.xml" Id="R6d9b9464a57246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7757e751bb4527" /><Relationship Type="http://schemas.openxmlformats.org/officeDocument/2006/relationships/notesSlide" Target="/ppt/notesSlides/notesSlide6.xml" Id="R567334ad9d0f428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07dcf843e54125" /><Relationship Type="http://schemas.openxmlformats.org/officeDocument/2006/relationships/notesSlide" Target="/ppt/notesSlides/notesSlide7.xml" Id="Ra40046a6e27342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4c65af3e14481d" /><Relationship Type="http://schemas.openxmlformats.org/officeDocument/2006/relationships/image" Target="/ppt/media/image5.png" Id="R0653266f033b40ed" /><Relationship Type="http://schemas.openxmlformats.org/officeDocument/2006/relationships/image" Target="/ppt/media/image6.png" Id="Rf43dced8b7e046d3" /><Relationship Type="http://schemas.openxmlformats.org/officeDocument/2006/relationships/notesSlide" Target="/ppt/notesSlides/notesSlide8.xml" Id="R0f1f27b4bad44f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cee33b0fe4378" /><Relationship Type="http://schemas.openxmlformats.org/officeDocument/2006/relationships/image" Target="/ppt/media/image7.png" Id="Rfe4c96b4d7ae4616" /><Relationship Type="http://schemas.openxmlformats.org/officeDocument/2006/relationships/image" Target="/ppt/media/image8.png" Id="R872725885edb4344" /><Relationship Type="http://schemas.openxmlformats.org/officeDocument/2006/relationships/image" Target="/ppt/media/image9.png" Id="Rc149f86c9acb4cc3" /><Relationship Type="http://schemas.openxmlformats.org/officeDocument/2006/relationships/notesSlide" Target="/ppt/notesSlides/notesSlide9.xml" Id="R54e24a3a57c942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bb07f85d7547a6" /><Relationship Type="http://schemas.openxmlformats.org/officeDocument/2006/relationships/notesSlide" Target="/ppt/notesSlides/notesSlide10.xml" Id="Rb5a2f475297045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55100593a48a5" /><Relationship Type="http://schemas.openxmlformats.org/officeDocument/2006/relationships/notesSlide" Target="/ppt/notesSlides/notesSlide11.xml" Id="R6e910fcfcdfd4fa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2790535db403e" /><Relationship Type="http://schemas.openxmlformats.org/officeDocument/2006/relationships/notesSlide" Target="/ppt/notesSlides/notesSlide12.xml" Id="Rbdedad412c954b1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bdfbd812824acb" /><Relationship Type="http://schemas.openxmlformats.org/officeDocument/2006/relationships/notesSlide" Target="/ppt/notesSlides/notesSlide13.xml" Id="R046291924b7c42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F0DB9A-4B09-41AF-8DEC-25CAF7FEC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16D39A-7F85-4A42-97A6-AC9B04229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F8726A-62F9-45B3-8C4E-62D5DCD5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86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西北农林科技大学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75733-1F54-4E27-A15E-D4545E4A8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0200"/>
            <a:ext cx="3714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简易科研文献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管理系统设计与实现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516FAD-10A8-49CE-9181-4EC4D3DAA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1049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323D4F-8DA1-4AA7-8EB6-BDAEA32F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385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周生斌  ·  2025013531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826EDB-B928-4E29-A5C5-890AFA08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148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CE9E3"/>
                </a:solidFill>
              </a:defRPr>
            </a:pPr>
            <a:r>
              <a:rPr sz="1350" b="0">
                <a:solidFill>
                  <a:srgbClr val="DCE9E3"/>
                </a:solidFill>
              </a:rPr>
              <a:t>班级：计算机类2507</a:t>
            </a:r>
          </a:p>
          <a:p xmlns:a="http://schemas.openxmlformats.org/drawingml/2006/main">
            <a:pPr algn="l">
              <a:defRPr sz="1350" b="0">
                <a:solidFill>
                  <a:srgbClr val="DCE9E3"/>
                </a:solidFill>
              </a:defRPr>
            </a:pPr>
            <a:r>
              <a:rPr sz="1350" b="0">
                <a:solidFill>
                  <a:srgbClr val="DCE9E3"/>
                </a:solidFill>
              </a:rPr>
              <a:t>指导教师：胡钰</a:t>
            </a:r>
          </a:p>
          <a:p xmlns:a="http://schemas.openxmlformats.org/drawingml/2006/main">
            <a:pPr algn="l">
              <a:defRPr sz="1350" b="0">
                <a:solidFill>
                  <a:srgbClr val="DCE9E3"/>
                </a:solidFill>
              </a:defRPr>
            </a:pPr>
            <a:r>
              <a:rPr sz="1350" b="0">
                <a:solidFill>
                  <a:srgbClr val="DCE9E3"/>
                </a:solidFill>
              </a:rPr>
              <a:t>答辩时间：2026年6月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B89BF-D3FB-43D6-8AB5-8D053920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0"/>
            <a:ext cx="762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20a34bf27448f8"/>
          <a:srcRect xmlns:a="http://schemas.openxmlformats.org/drawingml/2006/main" l="16580" t="0" r="1658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0"/>
            <a:ext cx="733425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5449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9523B3-2F59-4638-9800-6BBBEAB3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"/>
            <a:ext cx="171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0B5C48"/>
                </a:solidFill>
              </a:defRPr>
            </a:pPr>
            <a:r>
              <a:rPr sz="3600" b="1">
                <a:solidFill>
                  <a:srgbClr val="0B5C48"/>
                </a:solidFill>
              </a:rPr>
              <a:t>目录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2E7F5-6CCD-485A-A469-D477E8BD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6858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DB0E3D-E3B0-4533-8473-4923F49F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C48"/>
                </a:solidFill>
              </a:defRPr>
            </a:pPr>
            <a:r>
              <a:rPr sz="2550" b="1">
                <a:solidFill>
                  <a:srgbClr val="0B5C48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17733-CB57-4508-8690-9DCE11DA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478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D"/>
                </a:solidFill>
              </a:defRPr>
            </a:pPr>
            <a:r>
              <a:rPr sz="2100" b="1">
                <a:solidFill>
                  <a:srgbClr val="18211D"/>
                </a:solidFill>
              </a:rPr>
              <a:t>项目分析与模块设计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0C235-5016-49F6-947B-C1AE1712C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622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0E33BB-9437-47E0-9674-5E3103BC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C48"/>
                </a:solidFill>
              </a:defRPr>
            </a:pPr>
            <a:r>
              <a:rPr sz="2550" b="1">
                <a:solidFill>
                  <a:srgbClr val="0B5C48"/>
                </a:solidFill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F122BD-B35E-42D8-889F-A8AC89D72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194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D"/>
                </a:solidFill>
              </a:defRPr>
            </a:pPr>
            <a:r>
              <a:rPr sz="2100" b="1">
                <a:solidFill>
                  <a:srgbClr val="18211D"/>
                </a:solidFill>
              </a:rPr>
              <a:t>个人负责部分分析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151E6-A29D-4A0A-906B-DA28F9520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3337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67271-42F8-4B93-9011-76D32B7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5285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C48"/>
                </a:solidFill>
              </a:defRPr>
            </a:pPr>
            <a:r>
              <a:rPr sz="2550" b="1">
                <a:solidFill>
                  <a:srgbClr val="0B5C48"/>
                </a:solidFill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AD6D1D-C987-4A3C-BFB1-C7AED0BE6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79095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D"/>
                </a:solidFill>
              </a:defRPr>
            </a:pPr>
            <a:r>
              <a:rPr sz="2100" b="1">
                <a:solidFill>
                  <a:srgbClr val="18211D"/>
                </a:solidFill>
              </a:rPr>
              <a:t>具体实现思路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42E66A-9C6A-4274-B9E2-AD797693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0530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48B707-DB1B-436C-A70E-08915DFC1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24400"/>
            <a:ext cx="85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C48"/>
                </a:solidFill>
              </a:defRPr>
            </a:pPr>
            <a:r>
              <a:rPr sz="2550" b="1">
                <a:solidFill>
                  <a:srgbClr val="0B5C48"/>
                </a:solidFill>
              </a:rPr>
              <a:t>04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B18D00-7762-44F3-9E19-D720F814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762500"/>
            <a:ext cx="590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1D"/>
                </a:solidFill>
              </a:defRPr>
            </a:pPr>
            <a:r>
              <a:rPr sz="2100" b="1">
                <a:solidFill>
                  <a:srgbClr val="18211D"/>
                </a:solidFill>
              </a:rPr>
              <a:t>调试、优点与不足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216A86-AD4C-46E6-AF60-4A8488CA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76850"/>
            <a:ext cx="723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ED6D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F092ED-4EAE-46A6-BAC7-F6E5F91D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143000"/>
            <a:ext cx="1619250" cy="4572000"/>
          </a:xfrm>
          <a:prstGeom xmlns:a="http://schemas.openxmlformats.org/drawingml/2006/main" prst="roundRect">
            <a:avLst>
              <a:gd name="adj" fmla="val 16471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92E8EC-03A7-422D-A72D-EB4CF3795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324100"/>
            <a:ext cx="11620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OOP</a:t>
            </a:r>
          </a:p>
          <a:p xmlns:a="http://schemas.openxmlformats.org/drawingml/2006/main">
            <a:pPr algn="ctr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PRACTICE</a:t>
            </a:r>
          </a:p>
        </p:txBody>
      </p:sp>
    </p:spTree>
    <p:extLst>
      <p:ext uri="{BB962C8B-B14F-4D97-AF65-F5344CB8AC3E}">
        <p14:creationId xmlns:p14="http://schemas.microsoft.com/office/powerpoint/2010/main" val="170130269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5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2E186A-81CB-4232-A4CB-923D99A7D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D908D0-EF9B-4AAC-811D-3FCBAD04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PART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31D76-03DE-42FC-997B-78EFB3EFD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项目分析与模块设计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DD649C-0A41-461B-9A45-E82B723C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143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8443E-5119-4507-8B26-793357DC9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E1"/>
                </a:solidFill>
              </a:defRPr>
            </a:pPr>
            <a:r>
              <a:rPr sz="1650" b="0">
                <a:solidFill>
                  <a:srgbClr val="D9E8E1"/>
                </a:solidFill>
              </a:rPr>
              <a:t>项目背景、需求分析、总体架构与核心对象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5D4269-878A-454E-857E-AD0AAC77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BC0"/>
                </a:solidFill>
              </a:defRPr>
            </a:pPr>
            <a:r>
              <a:rPr sz="1050" b="0">
                <a:solidFill>
                  <a:srgbClr val="AFCBC0"/>
                </a:solidFill>
              </a:rPr>
              <a:t>NWAFU · C++ 面向对象综合训练</a:t>
            </a:r>
          </a:p>
        </p:txBody>
      </p:sp>
    </p:spTree>
    <p:extLst>
      <p:ext uri="{BB962C8B-B14F-4D97-AF65-F5344CB8AC3E}">
        <p14:creationId xmlns:p14="http://schemas.microsoft.com/office/powerpoint/2010/main" val="12468637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366579-D73C-4142-941C-38A0CFDE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2B342-7615-4FAF-AA6C-E971FD29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819AA-791D-4D8C-8B64-995786106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项目分析与模块设计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803EA-A5C2-4C88-906D-0B2829BB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009F30-F29D-4387-84DD-2E8AEEEB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项目背景与目标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AD7125-57A2-4D57-8A82-3021D486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92B2A-6A4E-478C-853F-3018E257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A3310B-EFC7-4815-984E-ABB8190CA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BE074-6383-4B18-A670-4772E4894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342900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E35966-1E31-444A-B758-D9CE4007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09750"/>
            <a:ext cx="76200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BCBAE-8A1D-406B-B592-1BBC1352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项目背景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3E711-B014-40D1-95E2-5BB52309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38400"/>
            <a:ext cx="2971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科研文献数量不断增加，人工记录容易出现信息分散、检索困难、文件与元数据脱节等问题。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C7A50-A897-494A-A5AC-DFA7A788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3429000" cy="1771650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235FDE-4570-4070-90A9-E4C4F5F85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76200" cy="1771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59752E-3A0D-45C3-B59F-C851538A6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2990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项目目标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D75C91-01E6-466E-9C9D-6410821B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2971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使用 C++17 与 Qt Widgets 构建桌面应用，统一管理文献、作者、出版物、附件和分类目录。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770c7ec2942db"/>
          <a:stretch xmlns:a="http://schemas.openxmlformats.org/drawingml/2006/main"/>
        </p:blipFill>
        <p:spPr>
          <a:xfrm xmlns:a="http://schemas.openxmlformats.org/drawingml/2006/main">
            <a:off x="5962650" y="1790700"/>
            <a:ext cx="3810000" cy="2381250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f4436bc29425e"/>
          <a:srcRect xmlns:a="http://schemas.openxmlformats.org/drawingml/2006/main" l="0" t="24453" r="0" b="244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24750" y="4324350"/>
            <a:ext cx="3886200" cy="1952625"/>
          </a:xfrm>
          <a:prstGeom xmlns:a="http://schemas.openxmlformats.org/drawingml/2006/main" prst="roundRect">
            <a:avLst>
              <a:gd name="adj" fmla="val 6829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C4E48B-9219-4BA8-968D-59AA2437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95800"/>
            <a:ext cx="2952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C48"/>
                </a:solidFill>
              </a:defRPr>
            </a:pPr>
            <a:r>
              <a:rPr sz="1800" b="1">
                <a:solidFill>
                  <a:srgbClr val="0B5C48"/>
                </a:solidFill>
              </a:rPr>
              <a:t>从“保存一篇文献”扩展到“管理文献关系网络”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5F563A-2E43-4363-879F-FA23AA21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314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C5EC23-89AF-43A1-A901-8207F37F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2387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1D"/>
                </a:solidFill>
              </a:defRPr>
            </a:pPr>
            <a:r>
              <a:rPr sz="1350" b="0">
                <a:solidFill>
                  <a:srgbClr val="18211D"/>
                </a:solidFill>
              </a:rPr>
              <a:t>结构化保存文献及相关对象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195661-5243-48DE-808F-0CA20022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388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C30DC6-FC7E-4391-977B-5DD700EB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56260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1D"/>
                </a:solidFill>
              </a:defRPr>
            </a:pPr>
            <a:r>
              <a:rPr sz="1350" b="0">
                <a:solidFill>
                  <a:srgbClr val="18211D"/>
                </a:solidFill>
              </a:rPr>
              <a:t>支持目录、搜索和附件关联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813BC3-2F4C-4CC2-AF9F-01795F72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626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89A09-A54A-4DC6-8F90-581B7231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86450"/>
            <a:ext cx="281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1D"/>
                </a:solidFill>
              </a:defRPr>
            </a:pPr>
            <a:r>
              <a:rPr sz="1350" b="0">
                <a:solidFill>
                  <a:srgbClr val="18211D"/>
                </a:solidFill>
              </a:rPr>
              <a:t>提供 PDF 元数据自动识别</a:t>
            </a:r>
          </a:p>
        </p:txBody>
      </p:sp>
    </p:spTree>
    <p:extLst>
      <p:ext uri="{BB962C8B-B14F-4D97-AF65-F5344CB8AC3E}">
        <p14:creationId xmlns:p14="http://schemas.microsoft.com/office/powerpoint/2010/main" val="1757114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ACE516-2524-46EB-970D-01BDA1779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64454-391C-4292-B104-408D16EB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EC3833-CF44-47FE-AB1C-89C154530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项目分析与模块设计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04F37-E650-4F52-A9B6-3C84EC905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23E859-82C4-4F79-BC6B-DECB56C2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总体架构与模块划分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869EE-2E49-4CBB-8C03-64CED393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2B7983-CADD-41B7-AD05-A5D1AEEF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24DA7E-839D-42EB-A6E4-0595E04AE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05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26a17368c47f0"/>
          <a:stretch xmlns:a="http://schemas.openxmlformats.org/drawingml/2006/main"/>
        </p:blipFill>
        <p:spPr>
          <a:xfrm xmlns:a="http://schemas.openxmlformats.org/drawingml/2006/main">
            <a:off x="2845594" y="1714500"/>
            <a:ext cx="6500813" cy="4333875"/>
          </a:xfrm>
          <a:prstGeom xmlns:a="http://schemas.openxmlformats.org/drawingml/2006/main" prst="roundRect">
            <a:avLst>
              <a:gd name="adj" fmla="val 2637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0F7653-B0BE-440F-BCF6-F31B442F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674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4B93"/>
                </a:solidFill>
              </a:defRPr>
            </a:pPr>
            <a:r>
              <a:rPr sz="1350" b="1">
                <a:solidFill>
                  <a:srgbClr val="174B93"/>
                </a:solidFill>
              </a:rPr>
              <a:t>UI 展示层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7CD4C1-EB58-43FD-B3B6-2FF21C37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8674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B54D0A"/>
                </a:solidFill>
              </a:defRPr>
            </a:pPr>
            <a:r>
              <a:rPr sz="1350" b="1">
                <a:solidFill>
                  <a:srgbClr val="B54D0A"/>
                </a:solidFill>
              </a:rPr>
              <a:t>业务管理层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7CDE4-3E66-417A-91FD-7A938600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867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632E"/>
                </a:solidFill>
              </a:defRPr>
            </a:pPr>
            <a:r>
              <a:rPr sz="1350" b="1">
                <a:solidFill>
                  <a:srgbClr val="17632E"/>
                </a:solidFill>
              </a:rPr>
              <a:t>核心数据与持久化层</a:t>
            </a:r>
          </a:p>
        </p:txBody>
      </p:sp>
    </p:spTree>
    <p:extLst>
      <p:ext uri="{BB962C8B-B14F-4D97-AF65-F5344CB8AC3E}">
        <p14:creationId xmlns:p14="http://schemas.microsoft.com/office/powerpoint/2010/main" val="137527446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5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19B109-3448-48FF-AD44-35F27859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C1C0FF-2FD0-47E1-A086-DAC88138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PART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5405F-A4BF-479B-A23D-10B447FF2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个人负责部分分析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77FF92-F42B-4D5C-9849-3A41B188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143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FCE4A3-910A-4232-AD32-A7D084FB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E1"/>
                </a:solidFill>
              </a:defRPr>
            </a:pPr>
            <a:r>
              <a:rPr sz="1650" b="0">
                <a:solidFill>
                  <a:srgbClr val="D9E8E1"/>
                </a:solidFill>
              </a:rPr>
              <a:t>Author / Paper / Attachment / Catalog 与对应 LibraryManager 功能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09D25-5FDF-4809-838A-67A50D1DA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BC0"/>
                </a:solidFill>
              </a:defRPr>
            </a:pPr>
            <a:r>
              <a:rPr sz="1050" b="0">
                <a:solidFill>
                  <a:srgbClr val="AFCBC0"/>
                </a:solidFill>
              </a:rPr>
              <a:t>NWAFU · C++ 面向对象综合训练</a:t>
            </a:r>
          </a:p>
        </p:txBody>
      </p:sp>
    </p:spTree>
    <p:extLst>
      <p:ext uri="{BB962C8B-B14F-4D97-AF65-F5344CB8AC3E}">
        <p14:creationId xmlns:p14="http://schemas.microsoft.com/office/powerpoint/2010/main" val="14374043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EF3033-DC2A-4CFA-A7C6-8683402FA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3547D-1B7A-470D-9F86-FA3C09DCB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8D45E0-2427-4118-B622-D83E8C1A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个人负责部分分析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A3637E-E625-4189-B861-4C139741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2A5A3-7E0C-4504-B577-0F18BC68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周生斌的个人分工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9BDAB-76F1-478B-8265-6C6C72AA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47179-A9D5-45A1-B58A-C80BA93C0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B6ADE-A519-42F8-A707-F8F856C9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15B2A-0BC1-4437-80CC-BFBEADFC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B5C48"/>
                </a:solidFill>
              </a:defRPr>
            </a:pPr>
            <a:r>
              <a:rPr sz="1875" b="1">
                <a:solidFill>
                  <a:srgbClr val="0B5C48"/>
                </a:solidFill>
              </a:rPr>
              <a:t>负责文献核心实体、附件与文献目录，并实现对应管理、关联和查询功能。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2F064A-7F9F-4F80-A6DE-5FD48B5DA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5219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057D78-7F2A-47D0-A8D6-48826B3F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146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8FB44-1105-4FE6-874D-BFA1D24A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051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实体类设计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E794B-97E7-458C-8D73-88BB1F36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设计 Author、Paper、Attachment 和 Catalog 的属性、访问接口及序列化方法。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4D702C-9013-4E85-B220-0D218A66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5219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DC62C-EA03-4137-B247-05A047E6A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5146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9864EE-E05F-4768-8717-62B7BC2A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关联关系维护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E2E69D-E898-455E-8F0D-E033824B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1432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维护文献—作者、文献—附件和文献—目录之间的编号关联。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E1BF7-6F81-4BE0-8675-B24B0DA0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5219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CCD7AC-83B6-49E2-B772-C006E26D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624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599DDC4-FF07-44CA-B409-657CD5BC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检索与分类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0765F8-F5D0-47C1-90EA-3A24C513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91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实现按标题、作者、关键词检索，以及目录递归查询和文献归类。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77D8BF-9EE0-4490-83E9-5720053D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52197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12A9C2-153B-4E38-B490-5D077379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62400"/>
            <a:ext cx="7620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D0EC86-2FC2-4760-A6C7-E33EE0A3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52900"/>
            <a:ext cx="4781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整合与调试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0AD12EE-F899-4C8F-A971-0C61B34CC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9105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参与数据导入、文件读写、界面联调和 bug 修改。</a:t>
            </a:r>
          </a:p>
        </p:txBody>
      </p:sp>
    </p:spTree>
    <p:extLst>
      <p:ext uri="{BB962C8B-B14F-4D97-AF65-F5344CB8AC3E}">
        <p14:creationId xmlns:p14="http://schemas.microsoft.com/office/powerpoint/2010/main" val="2756634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729EB6-54D4-4A4B-BBCC-E4B97EC7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D03AF5-5827-403E-9A76-A1C55E7D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868F38-B71B-4EE2-8FC5-78A606C64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个人负责部分分析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99F84C-45DC-4918-B1FE-28B77CE1A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CC5496-5D9F-4E8F-BF72-37E648443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负责模块的类设计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868D50-201A-447C-8210-11FDEE3C3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21DC24-4240-44E8-998D-3A8DA61F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9C255F-5F5C-4787-9F4D-84927E6D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08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53266f033b40ed"/>
          <a:stretch xmlns:a="http://schemas.openxmlformats.org/drawingml/2006/main"/>
        </p:blipFill>
        <p:spPr>
          <a:xfrm xmlns:a="http://schemas.openxmlformats.org/drawingml/2006/main">
            <a:off x="784860" y="1752600"/>
            <a:ext cx="4869180" cy="4057650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3dced8b7e046d3"/>
          <a:stretch xmlns:a="http://schemas.openxmlformats.org/drawingml/2006/main"/>
        </p:blipFill>
        <p:spPr>
          <a:xfrm xmlns:a="http://schemas.openxmlformats.org/drawingml/2006/main">
            <a:off x="6537960" y="1752600"/>
            <a:ext cx="4869180" cy="4057650"/>
          </a:xfrm>
          <a:prstGeom xmlns:a="http://schemas.openxmlformats.org/drawingml/2006/main" prst="roundRect">
            <a:avLst>
              <a:gd name="adj" fmla="val 2817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DDABC5-6F78-4628-BA6E-1A4888F5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964"/>
                </a:solidFill>
              </a:defRPr>
            </a:pPr>
            <a:r>
              <a:rPr sz="1200" b="1">
                <a:solidFill>
                  <a:srgbClr val="5E6964"/>
                </a:solidFill>
              </a:rPr>
              <a:t>核心接口、目录与文献对象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FD3E60-F549-4957-ADCF-4C8F79E7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05500"/>
            <a:ext cx="499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964"/>
                </a:solidFill>
              </a:defRPr>
            </a:pPr>
            <a:r>
              <a:rPr sz="1200" b="1">
                <a:solidFill>
                  <a:srgbClr val="5E6964"/>
                </a:solidFill>
              </a:rPr>
              <a:t>文献、附件与作者关联</a:t>
            </a:r>
          </a:p>
        </p:txBody>
      </p:sp>
    </p:spTree>
    <p:extLst>
      <p:ext uri="{BB962C8B-B14F-4D97-AF65-F5344CB8AC3E}">
        <p14:creationId xmlns:p14="http://schemas.microsoft.com/office/powerpoint/2010/main" val="2073734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916551-9F24-46E3-9EF4-536E9067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1ABCB-4ED5-4D32-B8C5-0BC2587F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95EF2-76B6-4EF4-B773-B06ACE17D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个人负责部分分析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7BF361-1528-4179-8BF5-3CD0B7B1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EB29DB-701E-45CE-8ED6-DFF5D742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本人负责功能的运行效果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08F3BB-CDF4-4632-B4E0-461B56DC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97221-BA37-4890-8B4C-96ED7D5A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601C9-F986-4537-8DA0-0E3EE1A2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09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4c96b4d7ae4616"/>
          <a:stretch xmlns:a="http://schemas.openxmlformats.org/drawingml/2006/main"/>
        </p:blipFill>
        <p:spPr>
          <a:xfrm xmlns:a="http://schemas.openxmlformats.org/drawingml/2006/main">
            <a:off x="1985132" y="1752600"/>
            <a:ext cx="2468635" cy="2381250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2725885edb4344"/>
          <a:srcRect xmlns:a="http://schemas.openxmlformats.org/drawingml/2006/main" l="0" t="14286" r="0" b="142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15050" y="1752600"/>
            <a:ext cx="5334000" cy="2381250"/>
          </a:xfrm>
          <a:prstGeom xmlns:a="http://schemas.openxmlformats.org/drawingml/2006/main" prst="roundRect">
            <a:avLst>
              <a:gd name="adj" fmla="val 5600"/>
            </a:avLst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49f86c9acb4cc3"/>
          <a:srcRect xmlns:a="http://schemas.openxmlformats.org/drawingml/2006/main" l="0" t="24897" r="0" b="248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4400550"/>
            <a:ext cx="5524500" cy="1733550"/>
          </a:xfrm>
          <a:prstGeom xmlns:a="http://schemas.openxmlformats.org/drawingml/2006/main" prst="roundRect">
            <a:avLst>
              <a:gd name="adj" fmla="val 7692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0CE66E-7BBB-4408-B900-B24BFEF6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964"/>
                </a:solidFill>
              </a:defRPr>
            </a:pPr>
            <a:r>
              <a:rPr sz="1200" b="1">
                <a:solidFill>
                  <a:srgbClr val="5E6964"/>
                </a:solidFill>
              </a:rPr>
              <a:t>文献新增与信息录入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C90C6-4BB7-4E71-8722-0A162AD5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210050"/>
            <a:ext cx="506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964"/>
                </a:solidFill>
              </a:defRPr>
            </a:pPr>
            <a:r>
              <a:rPr sz="1200" b="1">
                <a:solidFill>
                  <a:srgbClr val="5E6964"/>
                </a:solidFill>
              </a:rPr>
              <a:t>作者信息与关联文献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9FD1D5-046A-40C6-9E7D-C5D4B4A6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6200775"/>
            <a:ext cx="525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6964"/>
                </a:solidFill>
              </a:defRPr>
            </a:pPr>
            <a:r>
              <a:rPr sz="1200" b="1">
                <a:solidFill>
                  <a:srgbClr val="5E6964"/>
                </a:solidFill>
              </a:rPr>
              <a:t>多级目录与文献归类</a:t>
            </a:r>
          </a:p>
        </p:txBody>
      </p:sp>
    </p:spTree>
    <p:extLst>
      <p:ext uri="{BB962C8B-B14F-4D97-AF65-F5344CB8AC3E}">
        <p14:creationId xmlns:p14="http://schemas.microsoft.com/office/powerpoint/2010/main" val="156436158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5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6CEF9B2-C94B-43E9-9D27-B07EEEA0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C0EBC3-3A4F-4017-89B7-AF2A9D477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95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</a:defRPr>
            </a:pPr>
            <a:r>
              <a:rPr sz="3450" b="1">
                <a:solidFill>
                  <a:srgbClr val="FFFFFF"/>
                </a:solidFill>
              </a:rPr>
              <a:t>PART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6DFE5B-1339-4011-A80C-8137F1E7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具体实现思路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84B9D7-4B4B-4388-9BE4-F40A3014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1430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523B0-A802-4772-8FD3-21FF9614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52850"/>
            <a:ext cx="8191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9E8E1"/>
                </a:solidFill>
              </a:defRPr>
            </a:pPr>
            <a:r>
              <a:rPr sz="1650" b="0">
                <a:solidFill>
                  <a:srgbClr val="D9E8E1"/>
                </a:solidFill>
              </a:rPr>
              <a:t>围绕核心类、对象关联、查询和持久化展开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B5BE9-F836-4E42-84B4-82A25A644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00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AFCBC0"/>
                </a:solidFill>
              </a:defRPr>
            </a:pPr>
            <a:r>
              <a:rPr sz="1050" b="0">
                <a:solidFill>
                  <a:srgbClr val="AFCBC0"/>
                </a:solidFill>
              </a:rPr>
              <a:t>NWAFU · C++ 面向对象综合训练</a:t>
            </a:r>
          </a:p>
        </p:txBody>
      </p:sp>
    </p:spTree>
    <p:extLst>
      <p:ext uri="{BB962C8B-B14F-4D97-AF65-F5344CB8AC3E}">
        <p14:creationId xmlns:p14="http://schemas.microsoft.com/office/powerpoint/2010/main" val="16463855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12603-F3D1-484F-86D2-2F558B31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3A255-E8F5-4F65-A23B-B4EC4652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C65D0-3AEF-4AE9-9BC3-24D07EFE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具体实现思路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14AF2E-5734-4E6C-AE85-BB126048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C2F6B6-6CA2-4C37-A872-77641E5D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对象关联、递归查询与导入映射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2BE2C-03FC-4D0C-8454-088F8EEC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526F3F-2970-4F06-BF62-D00862903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64AE1A-70CF-4F53-8E18-45919EC8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66C3C3-0579-4BC5-A4B6-CAF574FEA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28800"/>
            <a:ext cx="3505200" cy="390525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BF20A-A801-45D6-9C5F-E68DD9D4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6F08F0-1261-4FFF-B821-90D9541F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AF9B2-19EF-4D06-8A75-ADEBF0A23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0764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关联一致性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69F49A-3682-4369-883A-0D034B67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971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4"/>
                </a:solidFill>
              </a:defRPr>
            </a:pPr>
            <a:r>
              <a:rPr sz="1350" b="0">
                <a:solidFill>
                  <a:srgbClr val="5E6964"/>
                </a:solidFill>
              </a:rPr>
              <a:t>删除作者时同步清理文献和作者目录中的编号；新增或删除附件时同步修改 Paper 的 attachmentIds。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61275-D34B-42C7-901E-5005BC9F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95850"/>
            <a:ext cx="2971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0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64209E-2F87-48EF-AB9E-F248F049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0387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5C48"/>
                </a:solidFill>
              </a:defRPr>
            </a:pPr>
            <a:r>
              <a:rPr sz="1200" b="1">
                <a:solidFill>
                  <a:srgbClr val="0B5C48"/>
                </a:solidFill>
              </a:rPr>
              <a:t>避免悬空编号与关系不一致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0D9ADE-D9C5-4F21-B2AE-B3DC6D3E2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28800"/>
            <a:ext cx="3505200" cy="390525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40B42-4074-47C7-B224-15090F25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038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DD0479-2037-4953-98A7-BBB735E4D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14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C1F3B0-9521-4984-9070-0B984422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764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目录递归查询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AAE1AB-3160-434D-965B-2669D70E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00350"/>
            <a:ext cx="2971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4"/>
                </a:solidFill>
              </a:defRPr>
            </a:pPr>
            <a:r>
              <a:rPr sz="1350" b="0">
                <a:solidFill>
                  <a:srgbClr val="5E6964"/>
                </a:solidFill>
              </a:rPr>
              <a:t>使用深度优先搜索遍历当前目录及全部子目录，并利用 visited 集合对文献编号去重。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86EC2E-669B-4949-AF87-5BAC6E1CC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895850"/>
            <a:ext cx="2971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0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A329BF-5E9E-4ECD-BAD7-58622D7B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0387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5C48"/>
                </a:solidFill>
              </a:defRPr>
            </a:pPr>
            <a:r>
              <a:rPr sz="1200" b="1">
                <a:solidFill>
                  <a:srgbClr val="0B5C48"/>
                </a:solidFill>
              </a:rPr>
              <a:t>复杂度约为 O(C + R)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02E50C-83C4-4E95-AB41-2812869C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28800"/>
            <a:ext cx="3505200" cy="3905250"/>
          </a:xfrm>
          <a:prstGeom xmlns:a="http://schemas.openxmlformats.org/drawingml/2006/main" prst="roundRect">
            <a:avLst>
              <a:gd name="adj" fmla="val 48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34F706-3FF7-4D65-AAFD-B0110CFB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3835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7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A88448-7F6E-48F8-BF1D-39C7873B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14550"/>
            <a:ext cx="514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E5E34C-DDA1-498C-95D6-D1ADDDBE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076450"/>
            <a:ext cx="2324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导入编号重映射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C8B347-4B12-4EEA-B75D-490C4B3B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297180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964"/>
                </a:solidFill>
              </a:defRPr>
            </a:pPr>
            <a:r>
              <a:rPr sz="1350" b="0">
                <a:solidFill>
                  <a:srgbClr val="5E6964"/>
                </a:solidFill>
              </a:rPr>
              <a:t>为作者、文献和目录建立旧 ID 到新 ID 的映射，按依赖顺序恢复跨对象关联。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7A369E-556C-44CD-A5B7-0CFF257F3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95850"/>
            <a:ext cx="29718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0F4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C48C1-FDA4-4A13-B3D6-BFFF8D0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038725"/>
            <a:ext cx="2705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5C48"/>
                </a:solidFill>
              </a:defRPr>
            </a:pPr>
            <a:r>
              <a:rPr sz="1200" b="1">
                <a:solidFill>
                  <a:srgbClr val="0B5C48"/>
                </a:solidFill>
              </a:rPr>
              <a:t>合并数据时避免 ID 冲突</a:t>
            </a:r>
          </a:p>
        </p:txBody>
      </p:sp>
    </p:spTree>
    <p:extLst>
      <p:ext uri="{BB962C8B-B14F-4D97-AF65-F5344CB8AC3E}">
        <p14:creationId xmlns:p14="http://schemas.microsoft.com/office/powerpoint/2010/main" val="16893439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427D9A-F7B1-4939-B266-FA7CB7A6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3C76E5-1A2A-4954-A346-EE7D72917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2038350" cy="381000"/>
          </a:xfrm>
          <a:prstGeom xmlns:a="http://schemas.openxmlformats.org/drawingml/2006/main" prst="roundRect">
            <a:avLst>
              <a:gd name="adj" fmla="val 225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4DC9A5-28C5-4C22-A636-A0F0668F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005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调试、优点与不足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662BD-7F48-4804-A1A0-6D4C3B45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0005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B5C48"/>
                </a:solidFill>
              </a:defRPr>
            </a:pPr>
            <a:r>
              <a:rPr sz="1050" b="1">
                <a:solidFill>
                  <a:srgbClr val="0B5C48"/>
                </a:solidFill>
              </a:rPr>
              <a:t>西北农林科技大学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7063E7-CF50-4E25-8FA6-FA7EAE2E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76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8211D"/>
                </a:solidFill>
              </a:defRPr>
            </a:pPr>
            <a:r>
              <a:rPr sz="2700" b="1">
                <a:solidFill>
                  <a:srgbClr val="18211D"/>
                </a:solidFill>
              </a:rPr>
              <a:t>调试结果与项目评价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E17929-AA82-4189-A2D0-DBD599CB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47800"/>
            <a:ext cx="87630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47E1FB-35CE-4A88-AC13-B5E8E8BB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A8580"/>
                </a:solidFill>
              </a:defRPr>
            </a:pPr>
            <a:r>
              <a:rPr sz="900" b="0">
                <a:solidFill>
                  <a:srgbClr val="7A8580"/>
                </a:solidFill>
              </a:rPr>
              <a:t>西北农林科技大学 · 信息工程学院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B1CAC-0BA1-42A1-B14F-9DF1BF62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B5C48"/>
                </a:solidFill>
              </a:defRPr>
            </a:pPr>
            <a:r>
              <a:rPr sz="900" b="1">
                <a:solidFill>
                  <a:srgbClr val="0B5C48"/>
                </a:solidFill>
              </a:rPr>
              <a:t>12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590550" y="1866900"/>
          <a:ext xmlns:a="http://schemas.openxmlformats.org/drawingml/2006/main" cx="4095750" cy="31051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857500"/>
                <a:gridCol w="1238250"/>
              </a:tblGrid>
              <a:tr h="62103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测试项目</a:t>
                      </a:r>
                    </a:p>
                  </a:txBody>
                  <a:tcPr marL="91440" marR="91440" marT="45720" marB="45720">
                    <a:solidFill>
                      <a:srgbClr val="0B5C4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0B5C48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275"/>
                        <a:t>对象增删改查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通过</a:t>
                      </a:r>
                    </a:p>
                  </a:txBody>
                  <a:tcPr marL="91440" marR="91440" marT="45720" marB="45720"/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275"/>
                        <a:t>关联维护与目录查询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通过</a:t>
                      </a:r>
                    </a:p>
                  </a:txBody>
                  <a:tcPr marL="91440" marR="91440" marT="45720" marB="45720"/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275"/>
                        <a:t>保存 / 加载 / 合并导入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通过</a:t>
                      </a:r>
                    </a:p>
                  </a:txBody>
                  <a:tcPr marL="91440" marR="91440" marT="45720" marB="45720"/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275"/>
                        <a:t>PDF 识别与文件打开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/>
                        <a:t>通过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314C43-842C-4B42-85F5-84EA6690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31051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949B94-0FA9-48EB-938B-67BFBECC1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C4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7C0CBF-FC9C-47EF-91E0-4D0773CA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57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项目优点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C6E34-A54D-4220-89A2-0F97056B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95550"/>
            <a:ext cx="2647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类职责清晰；文献关系完整；目录查询直观；支持本地文件与元数据识别。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0653C-CB61-461D-A161-CC4556859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3105150" cy="1752600"/>
          </a:xfrm>
          <a:prstGeom xmlns:a="http://schemas.openxmlformats.org/drawingml/2006/main" prst="roundRect">
            <a:avLst>
              <a:gd name="adj" fmla="val 978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89BCD5-AE0B-4EE3-B101-CDDA4CEB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66900"/>
            <a:ext cx="76200" cy="1752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E1E8CC-744A-4E27-9E67-BC257B07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5740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存在不足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CB4AF6-2BCD-4B4B-9692-9C477999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95550"/>
            <a:ext cx="26479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线性搜索在大数据量下效率有限；文本分隔格式仍需更严格的转义处理。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A92A53-B327-4320-84EC-80DAF6AFC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6477000" cy="1447800"/>
          </a:xfrm>
          <a:prstGeom xmlns:a="http://schemas.openxmlformats.org/drawingml/2006/main" prst="roundRect">
            <a:avLst>
              <a:gd name="adj" fmla="val 118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D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F5AAF-C4A9-4399-9B4D-486BE7C40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76200" cy="1447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676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4C1FE4-2100-4607-A510-AC348D608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038600"/>
            <a:ext cx="603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211D"/>
                </a:solidFill>
              </a:defRPr>
            </a:pPr>
            <a:r>
              <a:rPr sz="1725" b="1">
                <a:solidFill>
                  <a:srgbClr val="18211D"/>
                </a:solidFill>
              </a:rPr>
              <a:t>后续改进方向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5B6198-6D7C-406D-81C0-292FA918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476750"/>
            <a:ext cx="6019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964"/>
                </a:solidFill>
              </a:defRPr>
            </a:pPr>
            <a:r>
              <a:rPr sz="1275" b="0">
                <a:solidFill>
                  <a:srgbClr val="5E6964"/>
                </a:solidFill>
              </a:rPr>
              <a:t>增加索引或数据库存储；完善异常提示和自动化测试；增强重复文献检测与数据备份。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5DB5C-3E98-4282-B0DA-406C344E4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5600700"/>
            <a:ext cx="647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B5C48"/>
                </a:solidFill>
              </a:defRPr>
            </a:pPr>
            <a:r>
              <a:rPr sz="1575" b="1">
                <a:solidFill>
                  <a:srgbClr val="0B5C48"/>
                </a:solidFill>
              </a:rPr>
              <a:t>结论：主要功能运行稳定，达到面向对象综合训练要求。</a:t>
            </a:r>
          </a:p>
        </p:txBody>
      </p:sp>
    </p:spTree>
    <p:extLst>
      <p:ext uri="{BB962C8B-B14F-4D97-AF65-F5344CB8AC3E}">
        <p14:creationId xmlns:p14="http://schemas.microsoft.com/office/powerpoint/2010/main" val="5547569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B5C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B46E7-113E-416C-9993-DB0D9B5A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CE17D4-DAF1-4E60-911C-A8ED77DB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657350"/>
            <a:ext cx="12192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汇报结束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F65C05-BE61-40CA-BF7F-872B63B4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52700"/>
            <a:ext cx="1219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E6F0EB"/>
                </a:solidFill>
              </a:defRPr>
            </a:pPr>
            <a:r>
              <a:rPr sz="3150" b="1">
                <a:solidFill>
                  <a:srgbClr val="E6F0EB"/>
                </a:solidFill>
              </a:rPr>
              <a:t>感谢各位老师聆听！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F40D3-AB43-408D-A1DA-71471DF8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29000"/>
            <a:ext cx="2286000" cy="47625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D7A63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566309-4A7D-4868-8E3E-54F7312C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29050"/>
            <a:ext cx="1219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周生斌 · 2025013531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446BF-AD60-47B5-8A04-219D75E1C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24350"/>
            <a:ext cx="1219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BFD6CD"/>
                </a:solidFill>
              </a:defRPr>
            </a:pPr>
            <a:r>
              <a:rPr sz="1350" b="0">
                <a:solidFill>
                  <a:srgbClr val="BFD6CD"/>
                </a:solidFill>
              </a:rPr>
              <a:t>指导教师：胡钰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7421D8-542B-45D0-AF0A-7BCEF8821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3100"/>
            <a:ext cx="1219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CC0B2"/>
                </a:solidFill>
              </a:defRPr>
            </a:pPr>
            <a:r>
              <a:rPr sz="1275" b="0">
                <a:solidFill>
                  <a:srgbClr val="9CC0B2"/>
                </a:solidFill>
              </a:rPr>
              <a:t>Questions &amp; Answers</a:t>
            </a:r>
          </a:p>
        </p:txBody>
      </p:sp>
    </p:spTree>
    <p:extLst>
      <p:ext uri="{BB962C8B-B14F-4D97-AF65-F5344CB8AC3E}">
        <p14:creationId xmlns:p14="http://schemas.microsoft.com/office/powerpoint/2010/main" val="1620212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2026-06-24T10:16:11.0440000Z</dcterms:created>
  <dcterms:modified xsi:type="dcterms:W3CDTF">2026-06-24T10:16:11.0440000Z</dcterms:modified>
</coreProperties>
</file>