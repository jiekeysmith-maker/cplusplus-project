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313ef7087cb44b5" /><Relationship Type="http://schemas.openxmlformats.org/officeDocument/2006/relationships/extended-properties" Target="/docProps/app.xml" Id="Re645eacb85914370" /><Relationship Type="http://schemas.openxmlformats.org/officeDocument/2006/relationships/officeDocument" Target="/ppt/presentation.xml" Id="Rd9951dbc31ee49d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da7ca0ac59a4d1a"/>
  </p:sldMasterIdLst>
  <p:notesMasterIdLst>
    <p:notesMasterId xmlns:r="http://schemas.openxmlformats.org/officeDocument/2006/relationships" r:id="Rdd4ff6d109564011"/>
  </p:notesMasterIdLst>
  <p:sldIdLst>
    <p:sldId xmlns:r="http://schemas.openxmlformats.org/officeDocument/2006/relationships" id="256" r:id="R4a3083ebbe1f434c"/>
    <p:sldId xmlns:r="http://schemas.openxmlformats.org/officeDocument/2006/relationships" id="257" r:id="R7f8374a195d54482"/>
    <p:sldId xmlns:r="http://schemas.openxmlformats.org/officeDocument/2006/relationships" id="258" r:id="Rd338b39e6ac443bc"/>
    <p:sldId xmlns:r="http://schemas.openxmlformats.org/officeDocument/2006/relationships" id="259" r:id="R37d2d483559e4aab"/>
    <p:sldId xmlns:r="http://schemas.openxmlformats.org/officeDocument/2006/relationships" id="260" r:id="R91e3ba40c1a747d9"/>
    <p:sldId xmlns:r="http://schemas.openxmlformats.org/officeDocument/2006/relationships" id="261" r:id="Rdbe14ebe36544670"/>
    <p:sldId xmlns:r="http://schemas.openxmlformats.org/officeDocument/2006/relationships" id="262" r:id="Rc92dca10e7a24031"/>
    <p:sldId xmlns:r="http://schemas.openxmlformats.org/officeDocument/2006/relationships" id="263" r:id="R2fef1122c3f740ad"/>
    <p:sldId xmlns:r="http://schemas.openxmlformats.org/officeDocument/2006/relationships" id="264" r:id="R98b9a3d8d4e74d92"/>
    <p:sldId xmlns:r="http://schemas.openxmlformats.org/officeDocument/2006/relationships" id="265" r:id="R702940c0f37e425b"/>
    <p:sldId xmlns:r="http://schemas.openxmlformats.org/officeDocument/2006/relationships" id="266" r:id="Re6ad56c755e14d68"/>
    <p:sldId xmlns:r="http://schemas.openxmlformats.org/officeDocument/2006/relationships" id="267" r:id="R03fd9643dbb84641"/>
    <p:sldId xmlns:r="http://schemas.openxmlformats.org/officeDocument/2006/relationships" id="268" r:id="Rfb4442686c5f433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0199bbf0f414b4e" /><Relationship Type="http://schemas.openxmlformats.org/officeDocument/2006/relationships/slideMaster" Target="/ppt/slideMasters/slideMaster1.xml" Id="Reda7ca0ac59a4d1a" /><Relationship Type="http://schemas.openxmlformats.org/officeDocument/2006/relationships/notesMaster" Target="/ppt/notesMasters/notesMaster1.xml" Id="Rdd4ff6d109564011" /><Relationship Type="http://schemas.openxmlformats.org/officeDocument/2006/relationships/presProps" Target="/ppt/presProps.xml" Id="R1a7423512df449e7" /><Relationship Type="http://schemas.openxmlformats.org/officeDocument/2006/relationships/tableStyles" Target="/ppt/tableStyles.xml" Id="R3ecb74e982d9461f" /><Relationship Type="http://schemas.openxmlformats.org/officeDocument/2006/relationships/slide" Target="/ppt/slides/slide1.xml" Id="R4a3083ebbe1f434c" /><Relationship Type="http://schemas.openxmlformats.org/officeDocument/2006/relationships/slide" Target="/ppt/slides/slide2.xml" Id="R7f8374a195d54482" /><Relationship Type="http://schemas.openxmlformats.org/officeDocument/2006/relationships/slide" Target="/ppt/slides/slide3.xml" Id="Rd338b39e6ac443bc" /><Relationship Type="http://schemas.openxmlformats.org/officeDocument/2006/relationships/slide" Target="/ppt/slides/slide4.xml" Id="R37d2d483559e4aab" /><Relationship Type="http://schemas.openxmlformats.org/officeDocument/2006/relationships/slide" Target="/ppt/slides/slide5.xml" Id="R91e3ba40c1a747d9" /><Relationship Type="http://schemas.openxmlformats.org/officeDocument/2006/relationships/slide" Target="/ppt/slides/slide6.xml" Id="Rdbe14ebe36544670" /><Relationship Type="http://schemas.openxmlformats.org/officeDocument/2006/relationships/slide" Target="/ppt/slides/slide7.xml" Id="Rc92dca10e7a24031" /><Relationship Type="http://schemas.openxmlformats.org/officeDocument/2006/relationships/slide" Target="/ppt/slides/slide8.xml" Id="R2fef1122c3f740ad" /><Relationship Type="http://schemas.openxmlformats.org/officeDocument/2006/relationships/slide" Target="/ppt/slides/slide9.xml" Id="R98b9a3d8d4e74d92" /><Relationship Type="http://schemas.openxmlformats.org/officeDocument/2006/relationships/slide" Target="/ppt/slides/slide10.xml" Id="R702940c0f37e425b" /><Relationship Type="http://schemas.openxmlformats.org/officeDocument/2006/relationships/slide" Target="/ppt/slides/slide11.xml" Id="Re6ad56c755e14d68" /><Relationship Type="http://schemas.openxmlformats.org/officeDocument/2006/relationships/slide" Target="/ppt/slides/slide12.xml" Id="R03fd9643dbb84641" /><Relationship Type="http://schemas.openxmlformats.org/officeDocument/2006/relationships/slide" Target="/ppt/slides/slide13.xml" Id="Rfb4442686c5f433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8a0c8b28d92409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cd8e3e31733431f" /><Relationship Type="http://schemas.openxmlformats.org/officeDocument/2006/relationships/notesMaster" Target="/ppt/notesMasters/notesMaster1.xml" Id="R379a23d141a54fe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6126d354bce460f" /><Relationship Type="http://schemas.openxmlformats.org/officeDocument/2006/relationships/notesMaster" Target="/ppt/notesMasters/notesMaster1.xml" Id="R003d550a37b34a9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3a957441d254405" /><Relationship Type="http://schemas.openxmlformats.org/officeDocument/2006/relationships/notesMaster" Target="/ppt/notesMasters/notesMaster1.xml" Id="Rbcefdaef9026486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a35f188bbed4ed7" /><Relationship Type="http://schemas.openxmlformats.org/officeDocument/2006/relationships/notesMaster" Target="/ppt/notesMasters/notesMaster1.xml" Id="R8160609f874a443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065002e8df14e9c" /><Relationship Type="http://schemas.openxmlformats.org/officeDocument/2006/relationships/notesMaster" Target="/ppt/notesMasters/notesMaster1.xml" Id="Rc3348381ffff420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bd28037d1e343da" /><Relationship Type="http://schemas.openxmlformats.org/officeDocument/2006/relationships/notesMaster" Target="/ppt/notesMasters/notesMaster1.xml" Id="R698403e3c2a84a1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c75cefe30fb4079" /><Relationship Type="http://schemas.openxmlformats.org/officeDocument/2006/relationships/notesMaster" Target="/ppt/notesMasters/notesMaster1.xml" Id="Ra3d82c592134434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05e4a688ab94725" /><Relationship Type="http://schemas.openxmlformats.org/officeDocument/2006/relationships/notesMaster" Target="/ppt/notesMasters/notesMaster1.xml" Id="Rac74a9e85e9f498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b299349e52544c8" /><Relationship Type="http://schemas.openxmlformats.org/officeDocument/2006/relationships/notesMaster" Target="/ppt/notesMasters/notesMaster1.xml" Id="Rf428cb3b657f4db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0454016615f4937" /><Relationship Type="http://schemas.openxmlformats.org/officeDocument/2006/relationships/notesMaster" Target="/ppt/notesMasters/notesMaster1.xml" Id="Rac4c81770a4a4ae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9189b187e8e4e1f" /><Relationship Type="http://schemas.openxmlformats.org/officeDocument/2006/relationships/notesMaster" Target="/ppt/notesMasters/notesMaster1.xml" Id="Rf2e9aade0a57491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8de2f58370b4e3a" /><Relationship Type="http://schemas.openxmlformats.org/officeDocument/2006/relationships/notesMaster" Target="/ppt/notesMasters/notesMaster1.xml" Id="Rce619bc706d14bc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ced1a3de8094384" /><Relationship Type="http://schemas.openxmlformats.org/officeDocument/2006/relationships/notesMaster" Target="/ppt/notesMasters/notesMaster1.xml" Id="R52228c01bbe5499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各位老师好，我是邵一景。</a:t>
            </a:r>
          </a:p>
          <a:p xmlns:a="http://schemas.openxmlformats.org/drawingml/2006/main">
            <a:r>
              <a:t>本次汇报的项目是简易科研文献管理系统设计与实现。</a:t>
            </a:r>
          </a:p>
          <a:p xmlns:a="http://schemas.openxmlformats.org/drawingml/2006/main">
            <a:r>
              <a:t>汇报将从项目设计、个人负责部分、实现思路和项目总结四个方面展开。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目录分为四部分，与优秀答辩模板的叙事结构保持一致。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进入第1部分：项目分析与模块设计。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项目解决的是科研文献分散管理的问题。</a:t>
            </a:r>
          </a:p>
          <a:p xmlns:a="http://schemas.openxmlformats.org/drawingml/2006/main">
            <a:r>
              <a:t>目标不仅是保存文献条目，还要管理作者、来源、目录和附件之间的关系。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系统采用三层结构：界面展示、业务管理、核心数据与持久化。</a:t>
            </a:r>
          </a:p>
          <a:p xmlns:a="http://schemas.openxmlformats.org/drawingml/2006/main">
            <a:r>
              <a:t>LibraryManager 是连接界面和实体对象的核心入口。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进入第2部分：个人负责部分分析。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本人的主要分工集中在Source、Journal、Conference、AuthorCatalog 及相关业务。</a:t>
            </a:r>
          </a:p>
          <a:p xmlns:a="http://schemas.openxmlformats.org/drawingml/2006/main">
            <a:r>
              <a:t>除类设计外，还参与 LibraryManager 对应功能、代码整合和调试。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抽取期刊与会议共有属性，并通过纯虚函数 getType() 提供类型标识。</a:t>
            </a:r>
          </a:p>
          <a:p xmlns:a="http://schemas.openxmlformats.org/drawingml/2006/main">
            <a:r>
              <a:t>Journal 增加影响因子，Conference 增加会议地址。</a:t>
            </a:r>
          </a:p>
          <a:p xmlns:a="http://schemas.openxmlformats.org/drawingml/2006/main">
            <a:r>
              <a:t>AuthorCatalog 通过父子目录编号形成树形结构。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会议和期刊使用同一来源管理入口，但展示各自特有属性。</a:t>
            </a:r>
          </a:p>
          <a:p xmlns:a="http://schemas.openxmlformats.org/drawingml/2006/main">
            <a:r>
              <a:t>作者目录支持层级分类，并可显示目录内作者及关联信息。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进入第3部分：具体实现思路。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重点体现继承、多态、智能指针和树形结构。</a:t>
            </a:r>
          </a:p>
          <a:p xmlns:a="http://schemas.openxmlformats.org/drawingml/2006/main">
            <a:r>
              <a:t>删除来源时，会把关联文献设置为未关联状态，防止无效引用。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从核心功能、关联关系、持久化和文件操作四个方面进行了测试。</a:t>
            </a:r>
          </a:p>
          <a:p xmlns:a="http://schemas.openxmlformats.org/drawingml/2006/main">
            <a:r>
              <a:t>系统基本达到预期目标，同时仍有性能、异常处理和数据安全方面的改进空间。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我的汇报完毕，感谢各位老师，请老师批评指正。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c80ccb03b8487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8fdadd416924ac9" /><Relationship Type="http://schemas.openxmlformats.org/officeDocument/2006/relationships/slideLayout" Target="/ppt/slideLayouts/slideLayout1.xml" Id="R62bc45f7edc349c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2bc45f7edc349c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416a63692649aa" /><Relationship Type="http://schemas.openxmlformats.org/officeDocument/2006/relationships/image" Target="/ppt/media/image.png" Id="R9c1cfa27d95c4768" /><Relationship Type="http://schemas.openxmlformats.org/officeDocument/2006/relationships/notesSlide" Target="/ppt/notesSlides/notesSlide1.xml" Id="R808ad36c92384b8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a2e1449acf453c" /><Relationship Type="http://schemas.openxmlformats.org/officeDocument/2006/relationships/notesSlide" Target="/ppt/notesSlides/notesSlide2.xml" Id="R6af38826f01b4c4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92a4bdf6774c31" /><Relationship Type="http://schemas.openxmlformats.org/officeDocument/2006/relationships/notesSlide" Target="/ppt/notesSlides/notesSlide3.xml" Id="Rd010c2157274478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ed054d2420479f" /><Relationship Type="http://schemas.openxmlformats.org/officeDocument/2006/relationships/image" Target="/ppt/media/image2.png" Id="R002843350c394195" /><Relationship Type="http://schemas.openxmlformats.org/officeDocument/2006/relationships/image" Target="/ppt/media/image3.png" Id="R11991c4df78e4d37" /><Relationship Type="http://schemas.openxmlformats.org/officeDocument/2006/relationships/notesSlide" Target="/ppt/notesSlides/notesSlide4.xml" Id="R59ba42d408524d2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4e42985b4f4d64" /><Relationship Type="http://schemas.openxmlformats.org/officeDocument/2006/relationships/image" Target="/ppt/media/image4.png" Id="R5803d37dab1d4980" /><Relationship Type="http://schemas.openxmlformats.org/officeDocument/2006/relationships/notesSlide" Target="/ppt/notesSlides/notesSlide5.xml" Id="Rc20d7b973add4ea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691a1ae6834134" /><Relationship Type="http://schemas.openxmlformats.org/officeDocument/2006/relationships/notesSlide" Target="/ppt/notesSlides/notesSlide6.xml" Id="Rde803fe216f54fe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e0f8f455b4415a" /><Relationship Type="http://schemas.openxmlformats.org/officeDocument/2006/relationships/notesSlide" Target="/ppt/notesSlides/notesSlide7.xml" Id="R88c27e9cdbb44cc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b6eb25d4784a4d" /><Relationship Type="http://schemas.openxmlformats.org/officeDocument/2006/relationships/image" Target="/ppt/media/image5.png" Id="Reb78c54a262e4c1f" /><Relationship Type="http://schemas.openxmlformats.org/officeDocument/2006/relationships/notesSlide" Target="/ppt/notesSlides/notesSlide8.xml" Id="R6d638d70f782459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a29a2d02414710" /><Relationship Type="http://schemas.openxmlformats.org/officeDocument/2006/relationships/image" Target="/ppt/media/image6.png" Id="R599cc7bf13b44a91" /><Relationship Type="http://schemas.openxmlformats.org/officeDocument/2006/relationships/image" Target="/ppt/media/image7.png" Id="R89bf0cc3a7e24b1a" /><Relationship Type="http://schemas.openxmlformats.org/officeDocument/2006/relationships/image" Target="/ppt/media/image8.png" Id="Re859a770669e453a" /><Relationship Type="http://schemas.openxmlformats.org/officeDocument/2006/relationships/notesSlide" Target="/ppt/notesSlides/notesSlide9.xml" Id="Ra4d3c38491db4bf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56be4fe3a14946" /><Relationship Type="http://schemas.openxmlformats.org/officeDocument/2006/relationships/notesSlide" Target="/ppt/notesSlides/notesSlide10.xml" Id="R221dad801112433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5074cd63bf47bd" /><Relationship Type="http://schemas.openxmlformats.org/officeDocument/2006/relationships/notesSlide" Target="/ppt/notesSlides/notesSlide11.xml" Id="R639d784f9b144bb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a7ffd6421442b5" /><Relationship Type="http://schemas.openxmlformats.org/officeDocument/2006/relationships/notesSlide" Target="/ppt/notesSlides/notesSlide12.xml" Id="R5e95e0839e6d491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a5f022ecaa4b28" /><Relationship Type="http://schemas.openxmlformats.org/officeDocument/2006/relationships/notesSlide" Target="/ppt/notesSlides/notesSlide13.xml" Id="R8b8b30d429984b9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AA9C60-7178-4CA6-8351-0CDA6B243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857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C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50713B-0B5B-4682-9068-B9239BBED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85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6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DA315A-9A9B-4D99-A8B0-59EE44C14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西北农林科技大学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6627E4-3318-470C-883D-562CAACB7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00200"/>
            <a:ext cx="371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简易科研文献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管理系统设计与实现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72B127-81D7-4B2D-8514-6ECAB8321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76600"/>
            <a:ext cx="11049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7A6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EF8C70-4415-4434-8F06-7B533CC6B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3855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邵一景  ·  2024013886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D12D8F-32FB-400B-A6FF-3C0861FB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14800"/>
            <a:ext cx="3619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E9E3"/>
                </a:solidFill>
              </a:defRPr>
            </a:pPr>
            <a:r>
              <a:rPr sz="1350" b="0">
                <a:solidFill>
                  <a:srgbClr val="DCE9E3"/>
                </a:solidFill>
              </a:rPr>
              <a:t>班级：计算机类2507</a:t>
            </a:r>
          </a:p>
          <a:p xmlns:a="http://schemas.openxmlformats.org/drawingml/2006/main">
            <a:pPr algn="l">
              <a:defRPr sz="1350" b="0">
                <a:solidFill>
                  <a:srgbClr val="DCE9E3"/>
                </a:solidFill>
              </a:defRPr>
            </a:pPr>
            <a:r>
              <a:rPr sz="1350" b="0">
                <a:solidFill>
                  <a:srgbClr val="DCE9E3"/>
                </a:solidFill>
              </a:rPr>
              <a:t>指导教师：胡钰</a:t>
            </a:r>
          </a:p>
          <a:p xmlns:a="http://schemas.openxmlformats.org/drawingml/2006/main">
            <a:pPr algn="l">
              <a:defRPr sz="1350" b="0">
                <a:solidFill>
                  <a:srgbClr val="DCE9E3"/>
                </a:solidFill>
              </a:defRPr>
            </a:pPr>
            <a:r>
              <a:rPr sz="1350" b="0">
                <a:solidFill>
                  <a:srgbClr val="DCE9E3"/>
                </a:solidFill>
              </a:rPr>
              <a:t>答辩时间：2026年6月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03CFDE-9A9C-46A8-9F87-093B5B0EE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63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1cfa27d95c4768"/>
          <a:srcRect xmlns:a="http://schemas.openxmlformats.org/drawingml/2006/main" l="16580" t="0" r="1658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57750" y="0"/>
            <a:ext cx="733425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6725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708BBB-CE69-4B9A-9194-0DF49FFA6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5C48"/>
                </a:solidFill>
              </a:defRPr>
            </a:pPr>
            <a:r>
              <a:rPr sz="3600" b="1">
                <a:solidFill>
                  <a:srgbClr val="0B5C48"/>
                </a:solidFill>
              </a:rPr>
              <a:t>目录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18A999-CB20-4B3D-A178-366D52115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6858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7A6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8A6FF6-73E7-4A05-952F-897F93567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85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5C48"/>
                </a:solidFill>
              </a:defRPr>
            </a:pPr>
            <a:r>
              <a:rPr sz="2550" b="1">
                <a:solidFill>
                  <a:srgbClr val="0B5C48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29C9B0-9704-4FCB-990C-E7A1F6098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84785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11D"/>
                </a:solidFill>
              </a:defRPr>
            </a:pPr>
            <a:r>
              <a:rPr sz="2100" b="1">
                <a:solidFill>
                  <a:srgbClr val="18211D"/>
                </a:solidFill>
              </a:rPr>
              <a:t>项目分析与模块设计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EB37D3-6874-4567-B0EA-751F2323C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36220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380395-F6D8-46B8-A673-868CCA232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85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5C48"/>
                </a:solidFill>
              </a:defRPr>
            </a:pPr>
            <a:r>
              <a:rPr sz="2550" b="1">
                <a:solidFill>
                  <a:srgbClr val="0B5C48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D46A50-5AEF-4472-A5AD-5331A6CA0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1940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11D"/>
                </a:solidFill>
              </a:defRPr>
            </a:pPr>
            <a:r>
              <a:rPr sz="2100" b="1">
                <a:solidFill>
                  <a:srgbClr val="18211D"/>
                </a:solidFill>
              </a:rPr>
              <a:t>个人负责部分分析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6DFF7B-07CD-4295-BE5F-59C8DC045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33375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F3EF5B-A715-4139-B2EC-3D565E077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52850"/>
            <a:ext cx="85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5C48"/>
                </a:solidFill>
              </a:defRPr>
            </a:pPr>
            <a:r>
              <a:rPr sz="2550" b="1">
                <a:solidFill>
                  <a:srgbClr val="0B5C48"/>
                </a:solidFill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8976FB-E75C-4693-8656-4132E2F3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79095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11D"/>
                </a:solidFill>
              </a:defRPr>
            </a:pPr>
            <a:r>
              <a:rPr sz="2100" b="1">
                <a:solidFill>
                  <a:srgbClr val="18211D"/>
                </a:solidFill>
              </a:rPr>
              <a:t>具体实现思路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74AE67-FEA7-4A0C-B257-91735034E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30530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D12BBB-73FD-45ED-9BFD-131B2379A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24400"/>
            <a:ext cx="85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5C48"/>
                </a:solidFill>
              </a:defRPr>
            </a:pPr>
            <a:r>
              <a:rPr sz="2550" b="1">
                <a:solidFill>
                  <a:srgbClr val="0B5C48"/>
                </a:solidFill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941E7F-E589-409C-935F-CFFBCCBA5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76250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11D"/>
                </a:solidFill>
              </a:defRPr>
            </a:pPr>
            <a:r>
              <a:rPr sz="2100" b="1">
                <a:solidFill>
                  <a:srgbClr val="18211D"/>
                </a:solidFill>
              </a:rPr>
              <a:t>调试、优点与不足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E1F91A-1847-44DC-9B45-E496ED56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27685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355282-8DE9-4171-94BF-FECEF05D8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143000"/>
            <a:ext cx="1619250" cy="4572000"/>
          </a:xfrm>
          <a:prstGeom xmlns:a="http://schemas.openxmlformats.org/drawingml/2006/main" prst="roundRect">
            <a:avLst>
              <a:gd name="adj" fmla="val 16471"/>
            </a:avLst>
          </a:prstGeom>
          <a:solidFill xmlns:a="http://schemas.openxmlformats.org/drawingml/2006/main">
            <a:srgbClr val="0B5C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8D19D5-4E32-412C-B460-D0DE4522D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324100"/>
            <a:ext cx="11620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OOP</a:t>
            </a:r>
          </a:p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PRACTICE</a:t>
            </a:r>
          </a:p>
        </p:txBody>
      </p:sp>
    </p:spTree>
    <p:extLst>
      <p:ext uri="{BB962C8B-B14F-4D97-AF65-F5344CB8AC3E}">
        <p14:creationId xmlns:p14="http://schemas.microsoft.com/office/powerpoint/2010/main" val="2217146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5C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7719FE-65AF-414D-AD5B-68A0C2260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6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333776-6538-4827-A0DB-F3DB4BE14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PART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345FDA-538B-4915-ADB9-064A97A2E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14600"/>
            <a:ext cx="8763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项目分析与模块设计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9D11E5-4B57-407F-A9A6-B07D267D2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48050"/>
            <a:ext cx="11430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6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7CE5F3-CAE4-46FF-B800-A537AD9C5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52850"/>
            <a:ext cx="819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E8E1"/>
                </a:solidFill>
              </a:defRPr>
            </a:pPr>
            <a:r>
              <a:rPr sz="1650" b="0">
                <a:solidFill>
                  <a:srgbClr val="D9E8E1"/>
                </a:solidFill>
              </a:rPr>
              <a:t>项目背景、需求分析、总体架构与核心对象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0E3C0A-1EAA-4A9A-BE8A-42ECC669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00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FCBC0"/>
                </a:solidFill>
              </a:defRPr>
            </a:pPr>
            <a:r>
              <a:rPr sz="1050" b="0">
                <a:solidFill>
                  <a:srgbClr val="AFCBC0"/>
                </a:solidFill>
              </a:rPr>
              <a:t>NWAFU · C++ 面向对象综合训练</a:t>
            </a:r>
          </a:p>
        </p:txBody>
      </p:sp>
    </p:spTree>
    <p:extLst>
      <p:ext uri="{BB962C8B-B14F-4D97-AF65-F5344CB8AC3E}">
        <p14:creationId xmlns:p14="http://schemas.microsoft.com/office/powerpoint/2010/main" val="11145099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20EE0E-44D3-4556-9848-7CE36CBFF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C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E6CDCD-D655-4A6A-B740-F3E021069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2038350" cy="381000"/>
          </a:xfrm>
          <a:prstGeom xmlns:a="http://schemas.openxmlformats.org/drawingml/2006/main" prst="roundRect">
            <a:avLst>
              <a:gd name="adj" fmla="val 22500"/>
            </a:avLst>
          </a:prstGeom>
          <a:solidFill xmlns:a="http://schemas.openxmlformats.org/drawingml/2006/main">
            <a:srgbClr val="0B5C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82100C-C071-4209-9DF6-EBBF8036D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项目分析与模块设计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E0C2C0-6CE9-4513-9126-43A50A845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00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B5C48"/>
                </a:solidFill>
              </a:defRPr>
            </a:pPr>
            <a:r>
              <a:rPr sz="1050" b="1">
                <a:solidFill>
                  <a:srgbClr val="0B5C48"/>
                </a:solidFill>
              </a:rPr>
              <a:t>西北农林科技大学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830195-A4D1-4717-8523-D6F378448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11D"/>
                </a:solidFill>
              </a:defRPr>
            </a:pPr>
            <a:r>
              <a:rPr sz="2700" b="1">
                <a:solidFill>
                  <a:srgbClr val="18211D"/>
                </a:solidFill>
              </a:rPr>
              <a:t>项目背景与目标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B09B5A-3A16-4AE0-9032-DAC99267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8763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6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E4ADA6-EA84-4C8B-AFCC-1A3AAA3BF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A8580"/>
                </a:solidFill>
              </a:defRPr>
            </a:pPr>
            <a:r>
              <a:rPr sz="900" b="0">
                <a:solidFill>
                  <a:srgbClr val="7A8580"/>
                </a:solidFill>
              </a:rPr>
              <a:t>西北农林科技大学 · 信息工程学院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1DD6E1-3A62-4B2A-8353-1849D258C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B5C48"/>
                </a:solidFill>
              </a:defRPr>
            </a:pPr>
            <a:r>
              <a:rPr sz="900" b="1">
                <a:solidFill>
                  <a:srgbClr val="0B5C48"/>
                </a:solidFill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D6E2D4-E47B-4FC0-A828-C86B3423A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3429000" cy="17716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9019A6-60D3-437B-B41B-537BE2692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76200" cy="1771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C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1E0E9F-D4B5-446F-BD7D-C0095DEA0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2990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11D"/>
                </a:solidFill>
              </a:defRPr>
            </a:pPr>
            <a:r>
              <a:rPr sz="1725" b="1">
                <a:solidFill>
                  <a:srgbClr val="18211D"/>
                </a:solidFill>
              </a:rPr>
              <a:t>项目背景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31EC1D-6879-42B6-8CCB-1A961AA71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38400"/>
            <a:ext cx="2971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964"/>
                </a:solidFill>
              </a:defRPr>
            </a:pPr>
            <a:r>
              <a:rPr sz="1275" b="0">
                <a:solidFill>
                  <a:srgbClr val="5E6964"/>
                </a:solidFill>
              </a:rPr>
              <a:t>科研文献数量不断增加，人工记录容易出现信息分散、检索困难、文件与元数据脱节等问题。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4D90B1-624C-4A29-AD1C-E3532BAF4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90950"/>
            <a:ext cx="3429000" cy="17716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CCC1D3-6C02-48C4-A10D-00C7216E8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90950"/>
            <a:ext cx="76200" cy="1771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6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3F7EDA-F95E-4659-9DAD-687805AE5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81450"/>
            <a:ext cx="2990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11D"/>
                </a:solidFill>
              </a:defRPr>
            </a:pPr>
            <a:r>
              <a:rPr sz="1725" b="1">
                <a:solidFill>
                  <a:srgbClr val="18211D"/>
                </a:solidFill>
              </a:rPr>
              <a:t>项目目标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6231AE-033C-4A59-8ED7-D936044B3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19600"/>
            <a:ext cx="2971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964"/>
                </a:solidFill>
              </a:defRPr>
            </a:pPr>
            <a:r>
              <a:rPr sz="1275" b="0">
                <a:solidFill>
                  <a:srgbClr val="5E6964"/>
                </a:solidFill>
              </a:rPr>
              <a:t>使用 C++17 与 Qt Widgets 构建桌面应用，统一管理文献、作者、出版物、附件和分类目录。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2843350c394195"/>
          <a:stretch xmlns:a="http://schemas.openxmlformats.org/drawingml/2006/main"/>
        </p:blipFill>
        <p:spPr>
          <a:xfrm xmlns:a="http://schemas.openxmlformats.org/drawingml/2006/main">
            <a:off x="5962650" y="1790700"/>
            <a:ext cx="3810000" cy="2381250"/>
          </a:xfrm>
          <a:prstGeom xmlns:a="http://schemas.openxmlformats.org/drawingml/2006/main" prst="roundRect">
            <a:avLst>
              <a:gd name="adj" fmla="val 5600"/>
            </a:avLst>
          </a:prstGeom>
        </p:spPr>
      </p:pic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991c4df78e4d37"/>
          <a:srcRect xmlns:a="http://schemas.openxmlformats.org/drawingml/2006/main" l="0" t="24453" r="0" b="244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24750" y="4324350"/>
            <a:ext cx="3886200" cy="1952625"/>
          </a:xfrm>
          <a:prstGeom xmlns:a="http://schemas.openxmlformats.org/drawingml/2006/main" prst="roundRect">
            <a:avLst>
              <a:gd name="adj" fmla="val 6829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357F40-65E5-4612-A591-81863BCDC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495800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5C48"/>
                </a:solidFill>
              </a:defRPr>
            </a:pPr>
            <a:r>
              <a:rPr sz="1800" b="1">
                <a:solidFill>
                  <a:srgbClr val="0B5C48"/>
                </a:solidFill>
              </a:rPr>
              <a:t>从“保存一篇文献”扩展到“管理文献关系网络”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6E665E-9971-4620-9E1C-93E20D360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3149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C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85C7F1-02A4-4C90-AF1D-6D8EDE98A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23875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1D"/>
                </a:solidFill>
              </a:defRPr>
            </a:pPr>
            <a:r>
              <a:rPr sz="1350" b="0">
                <a:solidFill>
                  <a:srgbClr val="18211D"/>
                </a:solidFill>
              </a:rPr>
              <a:t>结构化保存文献及相关对象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3E3925-966C-4F4D-9955-E03147067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6388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C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26F791-FA79-4F5A-9AEF-42EBB136C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56260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1D"/>
                </a:solidFill>
              </a:defRPr>
            </a:pPr>
            <a:r>
              <a:rPr sz="1350" b="0">
                <a:solidFill>
                  <a:srgbClr val="18211D"/>
                </a:solidFill>
              </a:rPr>
              <a:t>支持目录、搜索和附件关联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A6E589-7E80-445E-AD8B-EFD39968D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9626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C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3B292F-2036-40DF-AA21-0F2AF429B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88645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1D"/>
                </a:solidFill>
              </a:defRPr>
            </a:pPr>
            <a:r>
              <a:rPr sz="1350" b="0">
                <a:solidFill>
                  <a:srgbClr val="18211D"/>
                </a:solidFill>
              </a:rPr>
              <a:t>提供 PDF 元数据自动识别</a:t>
            </a:r>
          </a:p>
        </p:txBody>
      </p:sp>
    </p:spTree>
    <p:extLst>
      <p:ext uri="{BB962C8B-B14F-4D97-AF65-F5344CB8AC3E}">
        <p14:creationId xmlns:p14="http://schemas.microsoft.com/office/powerpoint/2010/main" val="4590679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AE3DC9-C52F-4D3A-A72B-A6B9104E7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C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5F8B7D-EB41-472F-B807-D5547F7AF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2038350" cy="381000"/>
          </a:xfrm>
          <a:prstGeom xmlns:a="http://schemas.openxmlformats.org/drawingml/2006/main" prst="roundRect">
            <a:avLst>
              <a:gd name="adj" fmla="val 22500"/>
            </a:avLst>
          </a:prstGeom>
          <a:solidFill xmlns:a="http://schemas.openxmlformats.org/drawingml/2006/main">
            <a:srgbClr val="0B5C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9BE478-FB34-4F3D-9F1C-1FA0F8EE9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项目分析与模块设计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56CF42-ED8B-410A-B6EC-E3B9E997E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00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B5C48"/>
                </a:solidFill>
              </a:defRPr>
            </a:pPr>
            <a:r>
              <a:rPr sz="1050" b="1">
                <a:solidFill>
                  <a:srgbClr val="0B5C48"/>
                </a:solidFill>
              </a:rPr>
              <a:t>西北农林科技大学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1E9A4F-6A80-42A9-85F5-345143C00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11D"/>
                </a:solidFill>
              </a:defRPr>
            </a:pPr>
            <a:r>
              <a:rPr sz="2700" b="1">
                <a:solidFill>
                  <a:srgbClr val="18211D"/>
                </a:solidFill>
              </a:rPr>
              <a:t>总体架构与模块划分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EDD3D2-14FE-4FF7-94D7-D0FF4EAE1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8763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6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C4FB71-6F1C-4E2A-9D21-4534FBB46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A8580"/>
                </a:solidFill>
              </a:defRPr>
            </a:pPr>
            <a:r>
              <a:rPr sz="900" b="0">
                <a:solidFill>
                  <a:srgbClr val="7A8580"/>
                </a:solidFill>
              </a:rPr>
              <a:t>西北农林科技大学 · 信息工程学院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0927E9-619D-4E15-A796-DD505D4B1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B5C48"/>
                </a:solidFill>
              </a:defRPr>
            </a:pPr>
            <a:r>
              <a:rPr sz="900" b="1">
                <a:solidFill>
                  <a:srgbClr val="0B5C48"/>
                </a:solidFill>
              </a:rPr>
              <a:t>05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03d37dab1d4980"/>
          <a:stretch xmlns:a="http://schemas.openxmlformats.org/drawingml/2006/main"/>
        </p:blipFill>
        <p:spPr>
          <a:xfrm xmlns:a="http://schemas.openxmlformats.org/drawingml/2006/main">
            <a:off x="2845594" y="1714500"/>
            <a:ext cx="6500813" cy="4333875"/>
          </a:xfrm>
          <a:prstGeom xmlns:a="http://schemas.openxmlformats.org/drawingml/2006/main" prst="roundRect">
            <a:avLst>
              <a:gd name="adj" fmla="val 2637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79E6D0-52EB-4177-9831-212F35F5B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674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4B93"/>
                </a:solidFill>
              </a:defRPr>
            </a:pPr>
            <a:r>
              <a:rPr sz="1350" b="1">
                <a:solidFill>
                  <a:srgbClr val="174B93"/>
                </a:solidFill>
              </a:rPr>
              <a:t>UI 展示层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FBB6CD-E93E-49A2-A440-2C7501FA1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8674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54D0A"/>
                </a:solidFill>
              </a:defRPr>
            </a:pPr>
            <a:r>
              <a:rPr sz="1350" b="1">
                <a:solidFill>
                  <a:srgbClr val="B54D0A"/>
                </a:solidFill>
              </a:rPr>
              <a:t>业务管理层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A79A86-9A27-4040-8974-94475F52F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8674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632E"/>
                </a:solidFill>
              </a:defRPr>
            </a:pPr>
            <a:r>
              <a:rPr sz="1350" b="1">
                <a:solidFill>
                  <a:srgbClr val="17632E"/>
                </a:solidFill>
              </a:rPr>
              <a:t>核心数据与持久化层</a:t>
            </a:r>
          </a:p>
        </p:txBody>
      </p:sp>
    </p:spTree>
    <p:extLst>
      <p:ext uri="{BB962C8B-B14F-4D97-AF65-F5344CB8AC3E}">
        <p14:creationId xmlns:p14="http://schemas.microsoft.com/office/powerpoint/2010/main" val="7042280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5C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3F1053-EDE2-496A-920E-39E1C084D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6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64BADD-45CA-4A20-8239-F3B28B580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PART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9E1F02-DAFE-4067-ADF9-EB183CAA0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14600"/>
            <a:ext cx="8763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个人负责部分分析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1B46DD-F6A7-46D7-97F6-0C710F339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48050"/>
            <a:ext cx="11430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6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DBB94B-4A03-4CDA-AFC5-D7D09AC5A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52850"/>
            <a:ext cx="819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E8E1"/>
                </a:solidFill>
              </a:defRPr>
            </a:pPr>
            <a:r>
              <a:rPr sz="1650" b="0">
                <a:solidFill>
                  <a:srgbClr val="D9E8E1"/>
                </a:solidFill>
              </a:rPr>
              <a:t>Source / Journal / Conference / AuthorCatalog 与对应 LibraryManager 功能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16E329-59F2-4191-AA6B-874EEF320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00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FCBC0"/>
                </a:solidFill>
              </a:defRPr>
            </a:pPr>
            <a:r>
              <a:rPr sz="1050" b="0">
                <a:solidFill>
                  <a:srgbClr val="AFCBC0"/>
                </a:solidFill>
              </a:rPr>
              <a:t>NWAFU · C++ 面向对象综合训练</a:t>
            </a:r>
          </a:p>
        </p:txBody>
      </p:sp>
    </p:spTree>
    <p:extLst>
      <p:ext uri="{BB962C8B-B14F-4D97-AF65-F5344CB8AC3E}">
        <p14:creationId xmlns:p14="http://schemas.microsoft.com/office/powerpoint/2010/main" val="19127118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153957-E353-43D5-A8D9-F24E6E271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C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C723DA-D683-4F33-A833-BDBF76F56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2038350" cy="381000"/>
          </a:xfrm>
          <a:prstGeom xmlns:a="http://schemas.openxmlformats.org/drawingml/2006/main" prst="roundRect">
            <a:avLst>
              <a:gd name="adj" fmla="val 22500"/>
            </a:avLst>
          </a:prstGeom>
          <a:solidFill xmlns:a="http://schemas.openxmlformats.org/drawingml/2006/main">
            <a:srgbClr val="0B5C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E51E6F-1938-46B8-9446-4E3838AB2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个人负责部分分析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4CC4DE-66A2-4300-943F-D2B407E41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00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B5C48"/>
                </a:solidFill>
              </a:defRPr>
            </a:pPr>
            <a:r>
              <a:rPr sz="1050" b="1">
                <a:solidFill>
                  <a:srgbClr val="0B5C48"/>
                </a:solidFill>
              </a:rPr>
              <a:t>西北农林科技大学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7CA544-FB63-4026-B29F-F32BBC94D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11D"/>
                </a:solidFill>
              </a:defRPr>
            </a:pPr>
            <a:r>
              <a:rPr sz="2700" b="1">
                <a:solidFill>
                  <a:srgbClr val="18211D"/>
                </a:solidFill>
              </a:rPr>
              <a:t>邵一景的个人分工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58F275-2AED-4BFC-8582-773BBF43D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8763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6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6A0656-23AC-4D52-9808-C2D6346C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A8580"/>
                </a:solidFill>
              </a:defRPr>
            </a:pPr>
            <a:r>
              <a:rPr sz="900" b="0">
                <a:solidFill>
                  <a:srgbClr val="7A8580"/>
                </a:solidFill>
              </a:rPr>
              <a:t>西北农林科技大学 · 信息工程学院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2BD08A-DE96-4185-A1F7-57749BCAB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B5C48"/>
                </a:solidFill>
              </a:defRPr>
            </a:pPr>
            <a:r>
              <a:rPr sz="900" b="1">
                <a:solidFill>
                  <a:srgbClr val="0B5C48"/>
                </a:solidFill>
              </a:rPr>
              <a:t>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6A33A0-1245-4176-B7DF-D99B41939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5C48"/>
                </a:solidFill>
              </a:defRPr>
            </a:pPr>
            <a:r>
              <a:rPr sz="1875" b="1">
                <a:solidFill>
                  <a:srgbClr val="0B5C48"/>
                </a:solidFill>
              </a:rPr>
              <a:t>负责出版物来源继承体系与作者目录，并实现多态管理和来源查询功能。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8E9062-1B04-4467-B429-7754B4328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521970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1133A6-BEEE-47D6-BA25-13162CA28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7620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C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813C6E-D370-4E6F-A1B3-97DAA4AD1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05100"/>
            <a:ext cx="478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11D"/>
                </a:solidFill>
              </a:defRPr>
            </a:pPr>
            <a:r>
              <a:rPr sz="1725" b="1">
                <a:solidFill>
                  <a:srgbClr val="18211D"/>
                </a:solidFill>
              </a:rPr>
              <a:t>来源类体系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1267C4-DD23-49DC-9CFF-D5A6D725B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964"/>
                </a:solidFill>
              </a:defRPr>
            </a:pPr>
            <a:r>
              <a:rPr sz="1275" b="0">
                <a:solidFill>
                  <a:srgbClr val="5E6964"/>
                </a:solidFill>
              </a:rPr>
              <a:t>设计 Source 抽象基类，以及 Journal、Conference 两个具体派生类。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B7D619-0EED-4B05-B94D-914FB8084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14600"/>
            <a:ext cx="521970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C65DF1-C04C-41E0-A394-AC69463F4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14600"/>
            <a:ext cx="7620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6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678A05-E144-4B11-9B64-43C3C5B74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05100"/>
            <a:ext cx="478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11D"/>
                </a:solidFill>
              </a:defRPr>
            </a:pPr>
            <a:r>
              <a:rPr sz="1725" b="1">
                <a:solidFill>
                  <a:srgbClr val="18211D"/>
                </a:solidFill>
              </a:rPr>
              <a:t>作者目录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E431BD-7416-48D5-BC13-50F24361A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432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964"/>
                </a:solidFill>
              </a:defRPr>
            </a:pPr>
            <a:r>
              <a:rPr sz="1275" b="0">
                <a:solidFill>
                  <a:srgbClr val="5E6964"/>
                </a:solidFill>
              </a:rPr>
              <a:t>实现 AuthorCatalog 的父子结构、作者归类、去重和递归查询。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80871E-9E0B-44E3-82D1-18630E427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521970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C0EF46-F069-41A1-B650-DA2429BCB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7620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C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7E0019-9DA4-4F3F-AF99-D0EEB7C79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52900"/>
            <a:ext cx="478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11D"/>
                </a:solidFill>
              </a:defRPr>
            </a:pPr>
            <a:r>
              <a:rPr sz="1725" b="1">
                <a:solidFill>
                  <a:srgbClr val="18211D"/>
                </a:solidFill>
              </a:rPr>
              <a:t>多态管理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B7DDA8-9CE2-48D1-8A83-B09287108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910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964"/>
                </a:solidFill>
              </a:defRPr>
            </a:pPr>
            <a:r>
              <a:rPr sz="1275" b="0">
                <a:solidFill>
                  <a:srgbClr val="5E6964"/>
                </a:solidFill>
              </a:rPr>
              <a:t>使用 shared_ptr&lt;Source&gt; 统一管理期刊和会议，并按来源查询文献。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0D8598-13D8-4B7A-A05F-AF5FB341A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62400"/>
            <a:ext cx="521970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BBBE3E-15B9-4C51-9E9F-87590721E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62400"/>
            <a:ext cx="7620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6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A0ED0F-FFF1-4524-959A-724CD99B9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52900"/>
            <a:ext cx="478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11D"/>
                </a:solidFill>
              </a:defRPr>
            </a:pPr>
            <a:r>
              <a:rPr sz="1725" b="1">
                <a:solidFill>
                  <a:srgbClr val="18211D"/>
                </a:solidFill>
              </a:rPr>
              <a:t>文件读写测试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A4CF77-C57A-43F3-BC18-83D7B9EBE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910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964"/>
                </a:solidFill>
              </a:defRPr>
            </a:pPr>
            <a:r>
              <a:rPr sz="1275" b="0">
                <a:solidFill>
                  <a:srgbClr val="5E6964"/>
                </a:solidFill>
              </a:rPr>
              <a:t>实现来源与作者目录的保存、恢复、导入映射并参与整体调试。</a:t>
            </a:r>
          </a:p>
        </p:txBody>
      </p:sp>
    </p:spTree>
    <p:extLst>
      <p:ext uri="{BB962C8B-B14F-4D97-AF65-F5344CB8AC3E}">
        <p14:creationId xmlns:p14="http://schemas.microsoft.com/office/powerpoint/2010/main" val="16074641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CD1299-0E28-4920-B53A-1E213D649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C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89084B-0253-4140-8106-DD5C32EB4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2038350" cy="381000"/>
          </a:xfrm>
          <a:prstGeom xmlns:a="http://schemas.openxmlformats.org/drawingml/2006/main" prst="roundRect">
            <a:avLst>
              <a:gd name="adj" fmla="val 22500"/>
            </a:avLst>
          </a:prstGeom>
          <a:solidFill xmlns:a="http://schemas.openxmlformats.org/drawingml/2006/main">
            <a:srgbClr val="0B5C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87F663-E69E-44CC-A32E-CC359013F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个人负责部分分析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91411F-BCBE-4B51-9567-0E81DE1B7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00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B5C48"/>
                </a:solidFill>
              </a:defRPr>
            </a:pPr>
            <a:r>
              <a:rPr sz="1050" b="1">
                <a:solidFill>
                  <a:srgbClr val="0B5C48"/>
                </a:solidFill>
              </a:rPr>
              <a:t>西北农林科技大学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340161-B2B5-4ECE-82E6-83E7D03F7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11D"/>
                </a:solidFill>
              </a:defRPr>
            </a:pPr>
            <a:r>
              <a:rPr sz="2700" b="1">
                <a:solidFill>
                  <a:srgbClr val="18211D"/>
                </a:solidFill>
              </a:rPr>
              <a:t>负责模块的类设计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6D5D6D-FF67-4629-B895-88D6E64A5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8763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6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F49DD8-35B5-40B8-B37C-46C9678CE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A8580"/>
                </a:solidFill>
              </a:defRPr>
            </a:pPr>
            <a:r>
              <a:rPr sz="900" b="0">
                <a:solidFill>
                  <a:srgbClr val="7A8580"/>
                </a:solidFill>
              </a:rPr>
              <a:t>西北农林科技大学 · 信息工程学院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F7CA7A-28C5-4C6D-9AA1-54E14EE67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B5C48"/>
                </a:solidFill>
              </a:defRPr>
            </a:pPr>
            <a:r>
              <a:rPr sz="900" b="1">
                <a:solidFill>
                  <a:srgbClr val="0B5C48"/>
                </a:solidFill>
              </a:rPr>
              <a:t>08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78c54a262e4c1f"/>
          <a:stretch xmlns:a="http://schemas.openxmlformats.org/drawingml/2006/main"/>
        </p:blipFill>
        <p:spPr>
          <a:xfrm xmlns:a="http://schemas.openxmlformats.org/drawingml/2006/main">
            <a:off x="3457210" y="1657350"/>
            <a:ext cx="5258530" cy="4572000"/>
          </a:xfrm>
          <a:prstGeom xmlns:a="http://schemas.openxmlformats.org/drawingml/2006/main" prst="roundRect">
            <a:avLst>
              <a:gd name="adj" fmla="val 2500"/>
            </a:avLst>
          </a:prstGeom>
        </p:spPr>
      </p:pic>
    </p:spTree>
    <p:extLst>
      <p:ext uri="{BB962C8B-B14F-4D97-AF65-F5344CB8AC3E}">
        <p14:creationId xmlns:p14="http://schemas.microsoft.com/office/powerpoint/2010/main" val="64493826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2DBA83-5BEC-4916-86A8-217B1EB15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C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55A1E4-266F-4528-9D7A-CF9BB9A91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2038350" cy="381000"/>
          </a:xfrm>
          <a:prstGeom xmlns:a="http://schemas.openxmlformats.org/drawingml/2006/main" prst="roundRect">
            <a:avLst>
              <a:gd name="adj" fmla="val 22500"/>
            </a:avLst>
          </a:prstGeom>
          <a:solidFill xmlns:a="http://schemas.openxmlformats.org/drawingml/2006/main">
            <a:srgbClr val="0B5C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3F7F03-DDE5-4E38-90D7-DB4EEA6D8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个人负责部分分析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A1A5B7-4F16-405E-A1E1-12BB9D38E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00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B5C48"/>
                </a:solidFill>
              </a:defRPr>
            </a:pPr>
            <a:r>
              <a:rPr sz="1050" b="1">
                <a:solidFill>
                  <a:srgbClr val="0B5C48"/>
                </a:solidFill>
              </a:rPr>
              <a:t>西北农林科技大学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F46CC2-7E68-4852-A92C-7DEBA9FE3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11D"/>
                </a:solidFill>
              </a:defRPr>
            </a:pPr>
            <a:r>
              <a:rPr sz="2700" b="1">
                <a:solidFill>
                  <a:srgbClr val="18211D"/>
                </a:solidFill>
              </a:rPr>
              <a:t>本人负责功能的运行效果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074A6E-2B4D-4567-A49E-DB8D25914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8763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6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CF8211-72B3-4D96-8BA7-24D1AE5CC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A8580"/>
                </a:solidFill>
              </a:defRPr>
            </a:pPr>
            <a:r>
              <a:rPr sz="900" b="0">
                <a:solidFill>
                  <a:srgbClr val="7A8580"/>
                </a:solidFill>
              </a:rPr>
              <a:t>西北农林科技大学 · 信息工程学院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B7BAC5-BE28-4024-B406-BECF4F3DD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B5C48"/>
                </a:solidFill>
              </a:defRPr>
            </a:pPr>
            <a:r>
              <a:rPr sz="900" b="1">
                <a:solidFill>
                  <a:srgbClr val="0B5C48"/>
                </a:solidFill>
              </a:rPr>
              <a:t>09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9cc7bf13b44a91"/>
          <a:srcRect xmlns:a="http://schemas.openxmlformats.org/drawingml/2006/main" l="0" t="14286" r="0" b="142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752600"/>
            <a:ext cx="5334000" cy="2381250"/>
          </a:xfrm>
          <a:prstGeom xmlns:a="http://schemas.openxmlformats.org/drawingml/2006/main" prst="roundRect">
            <a:avLst>
              <a:gd name="adj" fmla="val 5600"/>
            </a:avLst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bf0cc3a7e24b1a"/>
          <a:srcRect xmlns:a="http://schemas.openxmlformats.org/drawingml/2006/main" l="0" t="14286" r="0" b="142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15050" y="1752600"/>
            <a:ext cx="5334000" cy="2381250"/>
          </a:xfrm>
          <a:prstGeom xmlns:a="http://schemas.openxmlformats.org/drawingml/2006/main" prst="roundRect">
            <a:avLst>
              <a:gd name="adj" fmla="val 5600"/>
            </a:avLst>
          </a:prstGeom>
        </p:spPr>
      </p:pic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59a770669e453a"/>
          <a:srcRect xmlns:a="http://schemas.openxmlformats.org/drawingml/2006/main" l="0" t="24897" r="0" b="248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4400550"/>
            <a:ext cx="5524500" cy="1733550"/>
          </a:xfrm>
          <a:prstGeom xmlns:a="http://schemas.openxmlformats.org/drawingml/2006/main" prst="roundRect">
            <a:avLst>
              <a:gd name="adj" fmla="val 7692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19B072-C59E-4028-A715-F97BF9949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E6964"/>
                </a:solidFill>
              </a:defRPr>
            </a:pPr>
            <a:r>
              <a:rPr sz="1200" b="1">
                <a:solidFill>
                  <a:srgbClr val="5E6964"/>
                </a:solidFill>
              </a:rPr>
              <a:t>Conference 会议来源列表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B02098-C2E9-4AC0-AF78-F895ED01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2100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E6964"/>
                </a:solidFill>
              </a:defRPr>
            </a:pPr>
            <a:r>
              <a:rPr sz="1200" b="1">
                <a:solidFill>
                  <a:srgbClr val="5E6964"/>
                </a:solidFill>
              </a:rPr>
              <a:t>Journal 期刊来源列表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908B1C-604F-4BE6-BC14-F79C0C220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6200775"/>
            <a:ext cx="525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E6964"/>
                </a:solidFill>
              </a:defRPr>
            </a:pPr>
            <a:r>
              <a:rPr sz="1200" b="1">
                <a:solidFill>
                  <a:srgbClr val="5E6964"/>
                </a:solidFill>
              </a:rPr>
              <a:t>作者目录与作者信息展示</a:t>
            </a:r>
          </a:p>
        </p:txBody>
      </p:sp>
    </p:spTree>
    <p:extLst>
      <p:ext uri="{BB962C8B-B14F-4D97-AF65-F5344CB8AC3E}">
        <p14:creationId xmlns:p14="http://schemas.microsoft.com/office/powerpoint/2010/main" val="184495850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5C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D36DEC-F28E-4518-9CA6-AC842CEDB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6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798AA5-D69A-4FE7-9145-E38670AF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PART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EC79D7-F9B2-4A04-B6DA-EBFAFDE2D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14600"/>
            <a:ext cx="8763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具体实现思路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86F41F-A205-4B7E-B3D0-7FDA4ED5C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48050"/>
            <a:ext cx="11430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6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78A6AD-B611-4CFF-BF62-57CB03F8D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52850"/>
            <a:ext cx="819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E8E1"/>
                </a:solidFill>
              </a:defRPr>
            </a:pPr>
            <a:r>
              <a:rPr sz="1650" b="0">
                <a:solidFill>
                  <a:srgbClr val="D9E8E1"/>
                </a:solidFill>
              </a:rPr>
              <a:t>围绕核心类、对象关联、查询和持久化展开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97FFF4-7FDE-4E38-B9EB-B5691D34C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00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FCBC0"/>
                </a:solidFill>
              </a:defRPr>
            </a:pPr>
            <a:r>
              <a:rPr sz="1050" b="0">
                <a:solidFill>
                  <a:srgbClr val="AFCBC0"/>
                </a:solidFill>
              </a:rPr>
              <a:t>NWAFU · C++ 面向对象综合训练</a:t>
            </a:r>
          </a:p>
        </p:txBody>
      </p:sp>
    </p:spTree>
    <p:extLst>
      <p:ext uri="{BB962C8B-B14F-4D97-AF65-F5344CB8AC3E}">
        <p14:creationId xmlns:p14="http://schemas.microsoft.com/office/powerpoint/2010/main" val="133410714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5A8EF7-7740-4981-8969-36837ACE4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C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567AE4-A8F7-4866-B553-4327F8905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2038350" cy="381000"/>
          </a:xfrm>
          <a:prstGeom xmlns:a="http://schemas.openxmlformats.org/drawingml/2006/main" prst="roundRect">
            <a:avLst>
              <a:gd name="adj" fmla="val 22500"/>
            </a:avLst>
          </a:prstGeom>
          <a:solidFill xmlns:a="http://schemas.openxmlformats.org/drawingml/2006/main">
            <a:srgbClr val="0B5C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AACED6-F55F-4D21-95A3-963A6341F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具体实现思路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7FB826-B1CF-4966-8352-F4F4F64BF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00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B5C48"/>
                </a:solidFill>
              </a:defRPr>
            </a:pPr>
            <a:r>
              <a:rPr sz="1050" b="1">
                <a:solidFill>
                  <a:srgbClr val="0B5C48"/>
                </a:solidFill>
              </a:rPr>
              <a:t>西北农林科技大学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329CCB-BB6C-42C3-B047-5E387868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11D"/>
                </a:solidFill>
              </a:defRPr>
            </a:pPr>
            <a:r>
              <a:rPr sz="2700" b="1">
                <a:solidFill>
                  <a:srgbClr val="18211D"/>
                </a:solidFill>
              </a:rPr>
              <a:t>多态持久化、目录维护与来源查询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9015D9-2DC1-4E4E-B1FA-60C595EA8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8763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6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A0E7C1-0D02-4A93-850F-751FDF81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A8580"/>
                </a:solidFill>
              </a:defRPr>
            </a:pPr>
            <a:r>
              <a:rPr sz="900" b="0">
                <a:solidFill>
                  <a:srgbClr val="7A8580"/>
                </a:solidFill>
              </a:rPr>
              <a:t>西北农林科技大学 · 信息工程学院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48D99E-E126-432C-B029-B942D4BEC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B5C48"/>
                </a:solidFill>
              </a:defRPr>
            </a:pPr>
            <a:r>
              <a:rPr sz="900" b="1">
                <a:solidFill>
                  <a:srgbClr val="0B5C48"/>
                </a:solidFill>
              </a:rPr>
              <a:t>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7D4BDA-A4AF-48AF-950E-D11623AE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28800"/>
            <a:ext cx="3505200" cy="3905250"/>
          </a:xfrm>
          <a:prstGeom xmlns:a="http://schemas.openxmlformats.org/drawingml/2006/main" prst="roundRect">
            <a:avLst>
              <a:gd name="adj" fmla="val 48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1EAA61-E69A-4AEC-8BA9-CB44DBA6B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C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F681A1-59E4-45AB-9829-6B859E03F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1D7426-D8D9-49A0-B06C-6191E6F7C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076450"/>
            <a:ext cx="232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11D"/>
                </a:solidFill>
              </a:defRPr>
            </a:pPr>
            <a:r>
              <a:rPr sz="1725" b="1">
                <a:solidFill>
                  <a:srgbClr val="18211D"/>
                </a:solidFill>
              </a:rPr>
              <a:t>多态来源管理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083694-23AF-404A-92B1-BA537796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0350"/>
            <a:ext cx="29718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964"/>
                </a:solidFill>
              </a:defRPr>
            </a:pPr>
            <a:r>
              <a:rPr sz="1350" b="0">
                <a:solidFill>
                  <a:srgbClr val="5E6964"/>
                </a:solidFill>
              </a:rPr>
              <a:t>以 shared_ptr&lt;Source&gt; 保存 Journal 和 Conference，通过虚函数获得类型并访问公共属性。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2F4F5C-ED35-4439-B8D6-B6CDCED99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95850"/>
            <a:ext cx="29718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0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5CE56F-8850-4D9E-9C36-E8267B987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38725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5C48"/>
                </a:solidFill>
              </a:defRPr>
            </a:pPr>
            <a:r>
              <a:rPr sz="1200" b="1">
                <a:solidFill>
                  <a:srgbClr val="0B5C48"/>
                </a:solidFill>
              </a:rPr>
              <a:t>统一容器管理不同派生对象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450B3D-54AC-42EE-8A26-EE588F4A7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828800"/>
            <a:ext cx="3505200" cy="3905250"/>
          </a:xfrm>
          <a:prstGeom xmlns:a="http://schemas.openxmlformats.org/drawingml/2006/main" prst="roundRect">
            <a:avLst>
              <a:gd name="adj" fmla="val 48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5C62BC-B38C-402F-8F89-D868F9DA9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0383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6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86E1AF-D3A8-4B6E-BFBC-B4B3302D8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1145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A9C9FB-1782-4696-B165-AF5E52128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076450"/>
            <a:ext cx="232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11D"/>
                </a:solidFill>
              </a:defRPr>
            </a:pPr>
            <a:r>
              <a:rPr sz="1725" b="1">
                <a:solidFill>
                  <a:srgbClr val="18211D"/>
                </a:solidFill>
              </a:rPr>
              <a:t>类型恢复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EEB5F6-86E0-4BD2-85A9-3B79D4FF3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00350"/>
            <a:ext cx="29718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964"/>
                </a:solidFill>
              </a:defRPr>
            </a:pPr>
            <a:r>
              <a:rPr sz="1350" b="0">
                <a:solidFill>
                  <a:srgbClr val="5E6964"/>
                </a:solidFill>
              </a:rPr>
              <a:t>保存时写入 Journal/Conference 类型标识；加载时根据标识创建具体子类并反序列化。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2745F9-581E-4C6F-AC26-05D3A4137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895850"/>
            <a:ext cx="29718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0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BD6AE0-9150-4BD4-ADB9-54636D7FE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038725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5C48"/>
                </a:solidFill>
              </a:defRPr>
            </a:pPr>
            <a:r>
              <a:rPr sz="1200" b="1">
                <a:solidFill>
                  <a:srgbClr val="0B5C48"/>
                </a:solidFill>
              </a:rPr>
              <a:t>正确恢复多态对象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DAD6A6-FD14-4898-9F25-6887812A4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28800"/>
            <a:ext cx="3505200" cy="3905250"/>
          </a:xfrm>
          <a:prstGeom xmlns:a="http://schemas.openxmlformats.org/drawingml/2006/main" prst="roundRect">
            <a:avLst>
              <a:gd name="adj" fmla="val 48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4BB291-4990-4BCC-9032-DECE90753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0383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67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1D0F64-7297-4D6E-92B4-6A14ED8C5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145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17AF44-4B9C-455E-9BD7-44D9FB59C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76450"/>
            <a:ext cx="232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11D"/>
                </a:solidFill>
              </a:defRPr>
            </a:pPr>
            <a:r>
              <a:rPr sz="1725" b="1">
                <a:solidFill>
                  <a:srgbClr val="18211D"/>
                </a:solidFill>
              </a:rPr>
              <a:t>作者目录递归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81270D-B089-4630-8B62-D736D7EBB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00350"/>
            <a:ext cx="29718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964"/>
                </a:solidFill>
              </a:defRPr>
            </a:pPr>
            <a:r>
              <a:rPr sz="1350" b="0">
                <a:solidFill>
                  <a:srgbClr val="5E6964"/>
                </a:solidFill>
              </a:rPr>
              <a:t>递归遍历子目录并使用 visited 对作者去重；目录移动或删除时同步调整父子编号。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D7FEB2-2250-4C4C-B846-F8E703BC9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895850"/>
            <a:ext cx="29718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0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E288DF-1DE4-4BBF-A224-6D2C49127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038725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5C48"/>
                </a:solidFill>
              </a:defRPr>
            </a:pPr>
            <a:r>
              <a:rPr sz="1200" b="1">
                <a:solidFill>
                  <a:srgbClr val="0B5C48"/>
                </a:solidFill>
              </a:rPr>
              <a:t>保持树形目录结构一致</a:t>
            </a:r>
          </a:p>
        </p:txBody>
      </p:sp>
    </p:spTree>
    <p:extLst>
      <p:ext uri="{BB962C8B-B14F-4D97-AF65-F5344CB8AC3E}">
        <p14:creationId xmlns:p14="http://schemas.microsoft.com/office/powerpoint/2010/main" val="106838047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EF6DF0-3ED0-4DC7-A17A-056861CB1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C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61EDF9-3FBA-4BFB-BE69-ACF8D6986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2038350" cy="381000"/>
          </a:xfrm>
          <a:prstGeom xmlns:a="http://schemas.openxmlformats.org/drawingml/2006/main" prst="roundRect">
            <a:avLst>
              <a:gd name="adj" fmla="val 22500"/>
            </a:avLst>
          </a:prstGeom>
          <a:solidFill xmlns:a="http://schemas.openxmlformats.org/drawingml/2006/main">
            <a:srgbClr val="0B5C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775C34-04D0-4B27-9055-0C72C0F7B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调试、优点与不足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5E3B9E-D133-4471-B568-7245E752B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00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B5C48"/>
                </a:solidFill>
              </a:defRPr>
            </a:pPr>
            <a:r>
              <a:rPr sz="1050" b="1">
                <a:solidFill>
                  <a:srgbClr val="0B5C48"/>
                </a:solidFill>
              </a:rPr>
              <a:t>西北农林科技大学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7C8662-0C4D-433F-AAC9-11ED82362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11D"/>
                </a:solidFill>
              </a:defRPr>
            </a:pPr>
            <a:r>
              <a:rPr sz="2700" b="1">
                <a:solidFill>
                  <a:srgbClr val="18211D"/>
                </a:solidFill>
              </a:rPr>
              <a:t>调试结果与项目评价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25A7C6-642E-42A3-B2F6-159DB9739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8763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6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B181A1-5049-4E13-A125-0196C2450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A8580"/>
                </a:solidFill>
              </a:defRPr>
            </a:pPr>
            <a:r>
              <a:rPr sz="900" b="0">
                <a:solidFill>
                  <a:srgbClr val="7A8580"/>
                </a:solidFill>
              </a:rPr>
              <a:t>西北农林科技大学 · 信息工程学院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EAF575-D6D4-44E9-9FBB-2A8E22B5F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B5C48"/>
                </a:solidFill>
              </a:defRPr>
            </a:pPr>
            <a:r>
              <a:rPr sz="900" b="1">
                <a:solidFill>
                  <a:srgbClr val="0B5C48"/>
                </a:solidFill>
              </a:rPr>
              <a:t>12</a:t>
            </a:r>
          </a:p>
        </p:txBody>
      </p:sp>
      <p:graphicFrame>
        <p:nvGraphicFramePr>
          <p:cNvPr id="31" name=""/>
          <p:cNvGraphicFramePr/>
          <p:nvPr/>
        </p:nvGraphicFramePr>
        <p:xfrm>
          <a:off xmlns:a="http://schemas.openxmlformats.org/drawingml/2006/main" x="590550" y="1866900"/>
          <a:ext xmlns:a="http://schemas.openxmlformats.org/drawingml/2006/main" cx="4095750" cy="31051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857500"/>
                <a:gridCol w="1238250"/>
              </a:tblGrid>
              <a:tr h="62103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测试项目</a:t>
                      </a:r>
                    </a:p>
                  </a:txBody>
                  <a:tcPr marL="91440" marR="91440" marT="45720" marB="45720">
                    <a:solidFill>
                      <a:srgbClr val="0B5C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结果</a:t>
                      </a:r>
                    </a:p>
                  </a:txBody>
                  <a:tcPr marL="91440" marR="91440" marT="45720" marB="45720">
                    <a:solidFill>
                      <a:srgbClr val="0B5C48"/>
                    </a:solidFill>
                  </a:tcPr>
                </a:tc>
              </a:tr>
              <a:tr h="621030">
                <a:tc>
                  <a:txBody>
                    <a:bodyPr/>
                    <a:lstStyle/>
                    <a:p>
                      <a:r>
                        <a:rPr sz="1275"/>
                        <a:t>对象增删改查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通过</a:t>
                      </a:r>
                    </a:p>
                  </a:txBody>
                  <a:tcPr marL="91440" marR="91440" marT="45720" marB="45720"/>
                </a:tc>
              </a:tr>
              <a:tr h="621030">
                <a:tc>
                  <a:txBody>
                    <a:bodyPr/>
                    <a:lstStyle/>
                    <a:p>
                      <a:r>
                        <a:rPr sz="1275"/>
                        <a:t>关联维护与目录查询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通过</a:t>
                      </a:r>
                    </a:p>
                  </a:txBody>
                  <a:tcPr marL="91440" marR="91440" marT="45720" marB="45720"/>
                </a:tc>
              </a:tr>
              <a:tr h="621030">
                <a:tc>
                  <a:txBody>
                    <a:bodyPr/>
                    <a:lstStyle/>
                    <a:p>
                      <a:r>
                        <a:rPr sz="1275"/>
                        <a:t>保存 / 加载 / 合并导入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通过</a:t>
                      </a:r>
                    </a:p>
                  </a:txBody>
                  <a:tcPr marL="91440" marR="91440" marT="45720" marB="45720"/>
                </a:tc>
              </a:tr>
              <a:tr h="621030">
                <a:tc>
                  <a:txBody>
                    <a:bodyPr/>
                    <a:lstStyle/>
                    <a:p>
                      <a:r>
                        <a:rPr sz="1275"/>
                        <a:t>PDF 识别与文件打开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通过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B8931E-03B6-4119-A478-18D55D35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866900"/>
            <a:ext cx="3105150" cy="1752600"/>
          </a:xfrm>
          <a:prstGeom xmlns:a="http://schemas.openxmlformats.org/drawingml/2006/main" prst="roundRect">
            <a:avLst>
              <a:gd name="adj" fmla="val 97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AA653D-6220-4C7A-A3A6-D9F5E239D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866900"/>
            <a:ext cx="76200" cy="1752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C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276E44-1952-45A4-866D-DF1B9A1AF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0574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11D"/>
                </a:solidFill>
              </a:defRPr>
            </a:pPr>
            <a:r>
              <a:rPr sz="1725" b="1">
                <a:solidFill>
                  <a:srgbClr val="18211D"/>
                </a:solidFill>
              </a:rPr>
              <a:t>项目优点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3C1B00-DD66-4392-80CE-B99A77D6A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495550"/>
            <a:ext cx="26479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964"/>
                </a:solidFill>
              </a:defRPr>
            </a:pPr>
            <a:r>
              <a:rPr sz="1275" b="0">
                <a:solidFill>
                  <a:srgbClr val="5E6964"/>
                </a:solidFill>
              </a:rPr>
              <a:t>继承体系清晰；多态容器减少重复代码；作者目录支持层次化归类；来源数据可独立保存。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59C60A-2801-41F7-AE9D-9E5139F8A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66900"/>
            <a:ext cx="3105150" cy="1752600"/>
          </a:xfrm>
          <a:prstGeom xmlns:a="http://schemas.openxmlformats.org/drawingml/2006/main" prst="roundRect">
            <a:avLst>
              <a:gd name="adj" fmla="val 97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33969F-225A-41A5-8C79-A136F514B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66900"/>
            <a:ext cx="76200" cy="1752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6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5F68FD-DC16-4014-B99C-B3B67B01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574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11D"/>
                </a:solidFill>
              </a:defRPr>
            </a:pPr>
            <a:r>
              <a:rPr sz="1725" b="1">
                <a:solidFill>
                  <a:srgbClr val="18211D"/>
                </a:solidFill>
              </a:rPr>
              <a:t>存在不足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7B5771-3A38-4A97-AAD5-B952FD5B5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95550"/>
            <a:ext cx="26479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964"/>
                </a:solidFill>
              </a:defRPr>
            </a:pPr>
            <a:r>
              <a:rPr sz="1275" b="0">
                <a:solidFill>
                  <a:srgbClr val="5E6964"/>
                </a:solidFill>
              </a:rPr>
              <a:t>具体类型判断仍使用字符串标识；目录异常关系的校验和提示可以继续加强。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3D6B14-20A4-44C4-B1B0-6CB76010B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848100"/>
            <a:ext cx="6477000" cy="1447800"/>
          </a:xfrm>
          <a:prstGeom xmlns:a="http://schemas.openxmlformats.org/drawingml/2006/main" prst="roundRect">
            <a:avLst>
              <a:gd name="adj" fmla="val 118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AF3678-1C89-4AF0-B0F2-38176069F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848100"/>
            <a:ext cx="76200" cy="1447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67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646914-1B24-424F-9814-B2783566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038600"/>
            <a:ext cx="603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11D"/>
                </a:solidFill>
              </a:defRPr>
            </a:pPr>
            <a:r>
              <a:rPr sz="1725" b="1">
                <a:solidFill>
                  <a:srgbClr val="18211D"/>
                </a:solidFill>
              </a:rPr>
              <a:t>后续改进方向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D20307-35F2-44C3-AC6E-C17E83AA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476750"/>
            <a:ext cx="6019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964"/>
                </a:solidFill>
              </a:defRPr>
            </a:pPr>
            <a:r>
              <a:rPr sz="1275" b="0">
                <a:solidFill>
                  <a:srgbClr val="5E6964"/>
                </a:solidFill>
              </a:rPr>
              <a:t>使用枚举或工厂类统一创建来源对象；增加目录循环检测；完善来源去重和批量导入。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120095-539B-4624-A2C3-318085840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60070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5C48"/>
                </a:solidFill>
              </a:defRPr>
            </a:pPr>
            <a:r>
              <a:rPr sz="1575" b="1">
                <a:solidFill>
                  <a:srgbClr val="0B5C48"/>
                </a:solidFill>
              </a:rPr>
              <a:t>结论：主要功能运行稳定，达到面向对象综合训练要求。</a:t>
            </a:r>
          </a:p>
        </p:txBody>
      </p:sp>
    </p:spTree>
    <p:extLst>
      <p:ext uri="{BB962C8B-B14F-4D97-AF65-F5344CB8AC3E}">
        <p14:creationId xmlns:p14="http://schemas.microsoft.com/office/powerpoint/2010/main" val="106919695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5C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D9097E-37C5-467A-BB96-0DECEB12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6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05496B-CB48-4572-B4D7-A7899BD77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57350"/>
            <a:ext cx="1219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汇报结束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775E0B-4391-4876-95B6-C10C33E1D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52700"/>
            <a:ext cx="1219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E6F0EB"/>
                </a:solidFill>
              </a:defRPr>
            </a:pPr>
            <a:r>
              <a:rPr sz="3150" b="1">
                <a:solidFill>
                  <a:srgbClr val="E6F0EB"/>
                </a:solidFill>
              </a:rPr>
              <a:t>感谢各位老师聆听！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76BD14-B1E7-4966-8A1A-6EFF8ACE5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429000"/>
            <a:ext cx="22860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7A6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7DEBCA-2DC4-435D-86B4-E2489D0E9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29050"/>
            <a:ext cx="1219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邵一景 · 2024013886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4249E6-5F46-4CD7-A795-9F533A231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24350"/>
            <a:ext cx="1219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BFD6CD"/>
                </a:solidFill>
              </a:defRPr>
            </a:pPr>
            <a:r>
              <a:rPr sz="1350" b="0">
                <a:solidFill>
                  <a:srgbClr val="BFD6CD"/>
                </a:solidFill>
              </a:rPr>
              <a:t>指导教师：胡钰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D73C38-F935-4E9A-B0E7-B8719C88B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53100"/>
            <a:ext cx="1219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9CC0B2"/>
                </a:solidFill>
              </a:defRPr>
            </a:pPr>
            <a:r>
              <a:rPr sz="1275" b="0">
                <a:solidFill>
                  <a:srgbClr val="9CC0B2"/>
                </a:solidFill>
              </a:rPr>
              <a:t>Questions &amp; Answers</a:t>
            </a:r>
          </a:p>
        </p:txBody>
      </p:sp>
    </p:spTree>
    <p:extLst>
      <p:ext uri="{BB962C8B-B14F-4D97-AF65-F5344CB8AC3E}">
        <p14:creationId xmlns:p14="http://schemas.microsoft.com/office/powerpoint/2010/main" val="15633248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2026-06-24T10:16:15.2460000Z</dcterms:created>
  <dcterms:modified xsi:type="dcterms:W3CDTF">2026-06-24T10:16:15.2460000Z</dcterms:modified>
</coreProperties>
</file>